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1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594360"/>
            <a:ext cx="109728" cy="5394960"/>
          </a:xfrm>
          <a:prstGeom prst="rect">
            <a:avLst/>
          </a:prstGeom>
          <a:solidFill>
            <a:srgbClr val="006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914400"/>
            <a:ext cx="99669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100" b="1">
                <a:solidFill>
                  <a:srgbClr val="9FCAE8"/>
                </a:solidFill>
                <a:latin typeface="Aptos"/>
              </a:rPr>
              <a:t>BMW PRODUCT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417320"/>
            <a:ext cx="996696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Evidence-led product
requirement 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880360"/>
            <a:ext cx="9509760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800" b="0">
                <a:solidFill>
                  <a:srgbClr val="DCE6EE"/>
                </a:solidFill>
                <a:latin typeface="Aptos"/>
              </a:rPr>
              <a:t>Decision-ready requirements with source traceability, transparent confidence, and explicit scoring basis.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069080"/>
            <a:ext cx="5029200" cy="713232"/>
          </a:xfrm>
          <a:prstGeom prst="roundRect">
            <a:avLst/>
          </a:prstGeom>
          <a:solidFill>
            <a:srgbClr val="1C344B"/>
          </a:solidFill>
          <a:ln w="9525">
            <a:solidFill>
              <a:srgbClr val="3F5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4187952"/>
            <a:ext cx="466344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282 ranked candidates  •  C01–C10 taxonomy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6172200"/>
            <a:ext cx="91440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00" b="0">
                <a:solidFill>
                  <a:srgbClr val="9FADBA"/>
                </a:solidFill>
                <a:latin typeface="Aptos"/>
              </a:rPr>
              <a:t>Generated by the BMW automotive requirements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1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00" b="1">
                <a:solidFill>
                  <a:srgbClr val="9FCAE8"/>
                </a:solidFill>
                <a:latin typeface="Aptos"/>
              </a:rPr>
              <a:t>PORTFOLIO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Decision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53312"/>
            <a:ext cx="2633472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REQUIREMENTS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282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19272" y="1353312"/>
            <a:ext cx="2633472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CRITICAL / HIGH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B72630"/>
                </a:solidFill>
                <a:latin typeface="Aptos Display"/>
              </a:rPr>
              <a:t>134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353312"/>
            <a:ext cx="2633472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STATIC PROXY RANKED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0066B1"/>
                </a:solidFill>
                <a:latin typeface="Aptos Display"/>
              </a:rPr>
              <a:t>282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51976" y="1353312"/>
            <a:ext cx="2633472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REGIONAL CONFLICTS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D27E00"/>
                </a:solidFill>
                <a:latin typeface="Aptos Display"/>
              </a:rPr>
              <a:t>43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8912" y="2304288"/>
          <a:ext cx="1129284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685800"/>
                <a:gridCol w="1143000"/>
                <a:gridCol w="1097280"/>
                <a:gridCol w="6766560"/>
                <a:gridCol w="1097280"/>
              </a:tblGrid>
              <a:tr h="361603"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Rank</a:t>
                      </a:r>
                    </a:p>
                  </a:txBody>
                  <a:tcPr marL="64008" marR="64008" marT="36576" marB="36576">
                    <a:solidFill>
                      <a:srgbClr val="112133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Score</a:t>
                      </a:r>
                    </a:p>
                  </a:txBody>
                  <a:tcPr marL="64008" marR="64008" marT="36576" marB="36576">
                    <a:solidFill>
                      <a:srgbClr val="112133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Band</a:t>
                      </a:r>
                    </a:p>
                  </a:txBody>
                  <a:tcPr marL="64008" marR="64008" marT="36576" marB="36576">
                    <a:solidFill>
                      <a:srgbClr val="112133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Vehicle</a:t>
                      </a:r>
                    </a:p>
                  </a:txBody>
                  <a:tcPr marL="64008" marR="64008" marT="36576" marB="36576">
                    <a:solidFill>
                      <a:srgbClr val="112133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Requirement</a:t>
                      </a:r>
                    </a:p>
                  </a:txBody>
                  <a:tcPr marL="64008" marR="64008" marT="36576" marB="36576">
                    <a:solidFill>
                      <a:srgbClr val="112133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Evidence</a:t>
                      </a:r>
                    </a:p>
                  </a:txBody>
                  <a:tcPr marL="64008" marR="64008" marT="36576" marB="36576">
                    <a:solidFill>
                      <a:srgbClr val="112133"/>
                    </a:solidFill>
                  </a:tcPr>
                </a:tc>
              </a:tr>
              <a:tr h="361603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E262E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E262E"/>
                          </a:solidFill>
                          <a:latin typeface="Aptos"/>
                        </a:rPr>
                        <a:t>71.5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Critical review</a:t>
                      </a:r>
                    </a:p>
                  </a:txBody>
                  <a:tcPr marL="64008" marR="64008" marT="36576" marB="36576">
                    <a:solidFill>
                      <a:srgbClr val="B7263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1E262E"/>
                          </a:solidFill>
                          <a:latin typeface="Aptos"/>
                        </a:rPr>
                        <a:t>G60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1E262E"/>
                          </a:solidFill>
                          <a:latin typeface="Aptos"/>
                        </a:rPr>
                        <a:t>G60 (C04): Improve seat-belt restraint performance and status feedback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1E262E"/>
                          </a:solidFill>
                          <a:latin typeface="Aptos"/>
                        </a:rPr>
                        <a:t>18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61603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E262E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64008" marR="64008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E262E"/>
                          </a:solidFill>
                          <a:latin typeface="Aptos"/>
                        </a:rPr>
                        <a:t>57.2</a:t>
                      </a:r>
                    </a:p>
                  </a:txBody>
                  <a:tcPr marL="64008" marR="64008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Critical review</a:t>
                      </a:r>
                    </a:p>
                  </a:txBody>
                  <a:tcPr marL="64008" marR="64008" marT="36576" marB="36576">
                    <a:solidFill>
                      <a:srgbClr val="B7263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1E262E"/>
                          </a:solidFill>
                          <a:latin typeface="Aptos"/>
                        </a:rPr>
                        <a:t>G60</a:t>
                      </a:r>
                    </a:p>
                  </a:txBody>
                  <a:tcPr marL="64008" marR="64008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1E262E"/>
                          </a:solidFill>
                          <a:latin typeface="Aptos"/>
                        </a:rPr>
                        <a:t>G60 (C04): Improve blind-spot alert timing and directional clarity</a:t>
                      </a:r>
                    </a:p>
                  </a:txBody>
                  <a:tcPr marL="64008" marR="64008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1E262E"/>
                          </a:solidFill>
                          <a:latin typeface="Aptos"/>
                        </a:rPr>
                        <a:t>13</a:t>
                      </a:r>
                    </a:p>
                  </a:txBody>
                  <a:tcPr marL="64008" marR="64008" marT="36576" marB="36576">
                    <a:solidFill>
                      <a:srgbClr val="F6F8FA"/>
                    </a:solidFill>
                  </a:tcPr>
                </a:tc>
              </a:tr>
              <a:tr h="361603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E262E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E262E"/>
                          </a:solidFill>
                          <a:latin typeface="Aptos"/>
                        </a:rPr>
                        <a:t>55.4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Critical review</a:t>
                      </a:r>
                    </a:p>
                  </a:txBody>
                  <a:tcPr marL="64008" marR="64008" marT="36576" marB="36576">
                    <a:solidFill>
                      <a:srgbClr val="B7263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1E262E"/>
                          </a:solidFill>
                          <a:latin typeface="Aptos"/>
                        </a:rPr>
                        <a:t>G60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1E262E"/>
                          </a:solidFill>
                          <a:latin typeface="Aptos"/>
                        </a:rPr>
                        <a:t>G60 (C04): Improve emergency-braking intervention consistency and driver feedback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1E262E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61603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E262E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64008" marR="64008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E262E"/>
                          </a:solidFill>
                          <a:latin typeface="Aptos"/>
                        </a:rPr>
                        <a:t>53.0</a:t>
                      </a:r>
                    </a:p>
                  </a:txBody>
                  <a:tcPr marL="64008" marR="64008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Critical review</a:t>
                      </a:r>
                    </a:p>
                  </a:txBody>
                  <a:tcPr marL="64008" marR="64008" marT="36576" marB="36576">
                    <a:solidFill>
                      <a:srgbClr val="B7263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1E262E"/>
                          </a:solidFill>
                          <a:latin typeface="Aptos"/>
                        </a:rPr>
                        <a:t>G70</a:t>
                      </a:r>
                    </a:p>
                  </a:txBody>
                  <a:tcPr marL="64008" marR="64008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1E262E"/>
                          </a:solidFill>
                          <a:latin typeface="Aptos"/>
                        </a:rPr>
                        <a:t>G70 (C04): Improve seat-belt restraint performance and status feedback</a:t>
                      </a:r>
                    </a:p>
                  </a:txBody>
                  <a:tcPr marL="64008" marR="64008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1E262E"/>
                          </a:solidFill>
                          <a:latin typeface="Aptos"/>
                        </a:rPr>
                        <a:t>11</a:t>
                      </a:r>
                    </a:p>
                  </a:txBody>
                  <a:tcPr marL="64008" marR="64008" marT="36576" marB="36576">
                    <a:solidFill>
                      <a:srgbClr val="F6F8FA"/>
                    </a:solidFill>
                  </a:tcPr>
                </a:tc>
              </a:tr>
              <a:tr h="361603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E262E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E262E"/>
                          </a:solidFill>
                          <a:latin typeface="Aptos"/>
                        </a:rPr>
                        <a:t>50.0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Critical review</a:t>
                      </a:r>
                    </a:p>
                  </a:txBody>
                  <a:tcPr marL="64008" marR="64008" marT="36576" marB="36576">
                    <a:solidFill>
                      <a:srgbClr val="B7263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1E262E"/>
                          </a:solidFill>
                          <a:latin typeface="Aptos"/>
                        </a:rPr>
                        <a:t>G70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1E262E"/>
                          </a:solidFill>
                          <a:latin typeface="Aptos"/>
                        </a:rPr>
                        <a:t>G70 (C04): Improve emergency-braking intervention consistency and driver feedback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1E262E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61603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E262E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64008" marR="64008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E262E"/>
                          </a:solidFill>
                          <a:latin typeface="Aptos"/>
                        </a:rPr>
                        <a:t>49.5</a:t>
                      </a:r>
                    </a:p>
                  </a:txBody>
                  <a:tcPr marL="64008" marR="64008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Critical review</a:t>
                      </a:r>
                    </a:p>
                  </a:txBody>
                  <a:tcPr marL="64008" marR="64008" marT="36576" marB="36576">
                    <a:solidFill>
                      <a:srgbClr val="B7263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1E262E"/>
                          </a:solidFill>
                          <a:latin typeface="Aptos"/>
                        </a:rPr>
                        <a:t>F70</a:t>
                      </a:r>
                    </a:p>
                  </a:txBody>
                  <a:tcPr marL="64008" marR="64008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1E262E"/>
                          </a:solidFill>
                          <a:latin typeface="Aptos"/>
                        </a:rPr>
                        <a:t>F70 (C04): Improve seat-belt restraint performance and status feedback</a:t>
                      </a:r>
                    </a:p>
                  </a:txBody>
                  <a:tcPr marL="64008" marR="64008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1E262E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64008" marR="64008" marT="36576" marB="36576">
                    <a:solidFill>
                      <a:srgbClr val="F6F8FA"/>
                    </a:solidFill>
                  </a:tcPr>
                </a:tc>
              </a:tr>
              <a:tr h="361603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E262E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E262E"/>
                          </a:solidFill>
                          <a:latin typeface="Aptos"/>
                        </a:rPr>
                        <a:t>44.7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Critical review</a:t>
                      </a:r>
                    </a:p>
                  </a:txBody>
                  <a:tcPr marL="64008" marR="64008" marT="36576" marB="36576">
                    <a:solidFill>
                      <a:srgbClr val="B7263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1E262E"/>
                          </a:solidFill>
                          <a:latin typeface="Aptos"/>
                        </a:rPr>
                        <a:t>G70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1E262E"/>
                          </a:solidFill>
                          <a:latin typeface="Aptos"/>
                        </a:rPr>
                        <a:t>G70 (C04): Strengthen occupant protection and collision-event response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1E262E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61603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E262E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64008" marR="64008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E262E"/>
                          </a:solidFill>
                          <a:latin typeface="Aptos"/>
                        </a:rPr>
                        <a:t>41.6</a:t>
                      </a:r>
                    </a:p>
                  </a:txBody>
                  <a:tcPr marL="64008" marR="64008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Critical review</a:t>
                      </a:r>
                    </a:p>
                  </a:txBody>
                  <a:tcPr marL="64008" marR="64008" marT="36576" marB="36576">
                    <a:solidFill>
                      <a:srgbClr val="B7263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1E262E"/>
                          </a:solidFill>
                          <a:latin typeface="Aptos"/>
                        </a:rPr>
                        <a:t>G60</a:t>
                      </a:r>
                    </a:p>
                  </a:txBody>
                  <a:tcPr marL="64008" marR="64008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1E262E"/>
                          </a:solidFill>
                          <a:latin typeface="Aptos"/>
                        </a:rPr>
                        <a:t>G60 (C04): Improve emergency-braking intervention consistency and driver feedback</a:t>
                      </a:r>
                    </a:p>
                  </a:txBody>
                  <a:tcPr marL="64008" marR="64008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1E262E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64008" marR="64008" marT="36576" marB="36576">
                    <a:solidFill>
                      <a:srgbClr val="F6F8FA"/>
                    </a:solidFill>
                  </a:tcPr>
                </a:tc>
              </a:tr>
              <a:tr h="361603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E262E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E262E"/>
                          </a:solidFill>
                          <a:latin typeface="Aptos"/>
                        </a:rPr>
                        <a:t>29.8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Critical review</a:t>
                      </a:r>
                    </a:p>
                  </a:txBody>
                  <a:tcPr marL="64008" marR="64008" marT="36576" marB="36576">
                    <a:solidFill>
                      <a:srgbClr val="B7263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1E262E"/>
                          </a:solidFill>
                          <a:latin typeface="Aptos"/>
                        </a:rPr>
                        <a:t>G60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1E262E"/>
                          </a:solidFill>
                          <a:latin typeface="Aptos"/>
                        </a:rPr>
                        <a:t>G60 (C04): Improve collision-warning detection and provide timely, explainable alerts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1E262E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61609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E262E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marL="64008" marR="64008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1E262E"/>
                          </a:solidFill>
                          <a:latin typeface="Aptos"/>
                        </a:rPr>
                        <a:t>81.4</a:t>
                      </a:r>
                    </a:p>
                  </a:txBody>
                  <a:tcPr marL="64008" marR="64008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High</a:t>
                      </a:r>
                    </a:p>
                  </a:txBody>
                  <a:tcPr marL="64008" marR="64008" marT="36576" marB="36576">
                    <a:solidFill>
                      <a:srgbClr val="D27E00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1E262E"/>
                          </a:solidFill>
                          <a:latin typeface="Aptos"/>
                        </a:rPr>
                        <a:t>G60</a:t>
                      </a:r>
                    </a:p>
                  </a:txBody>
                  <a:tcPr marL="64008" marR="64008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900" b="0">
                          <a:solidFill>
                            <a:srgbClr val="1E262E"/>
                          </a:solidFill>
                          <a:latin typeface="Aptos"/>
                        </a:rPr>
                        <a:t>G60 (C01): Calibrate steering and chassis response for predictable handling</a:t>
                      </a:r>
                    </a:p>
                  </a:txBody>
                  <a:tcPr marL="64008" marR="64008" marT="36576" marB="36576">
                    <a:solidFill>
                      <a:srgbClr val="F6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000" b="0">
                          <a:solidFill>
                            <a:srgbClr val="1E262E"/>
                          </a:solidFill>
                          <a:latin typeface="Aptos"/>
                        </a:rPr>
                        <a:t>47</a:t>
                      </a:r>
                    </a:p>
                  </a:txBody>
                  <a:tcPr marL="64008" marR="64008" marT="36576" marB="36576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6565392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800" b="0">
                <a:solidFill>
                  <a:srgbClr val="5B6975"/>
                </a:solidFill>
                <a:latin typeface="Aptos"/>
              </a:rPr>
              <a:t>Priority score uses the complete formula where available and a labelled static-evidence proxy otherwise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565392"/>
            <a:ext cx="59436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/>
            <a:r>
              <a:rPr sz="800" b="0">
                <a:solidFill>
                  <a:srgbClr val="5B6975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1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00" b="1">
                <a:solidFill>
                  <a:srgbClr val="9FCAE8"/>
                </a:solidFill>
                <a:latin typeface="Aptos"/>
              </a:rPr>
              <a:t>RANK 01  /  CRITICAL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G60 (C04): Improve seat-belt restraint performance and status feedback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89888"/>
            <a:ext cx="11183112" cy="914400"/>
          </a:xfrm>
          <a:prstGeom prst="roundRect">
            <a:avLst/>
          </a:prstGeom>
          <a:solidFill>
            <a:srgbClr val="E5F1F9"/>
          </a:solidFill>
          <a:ln w="9525">
            <a:solidFill>
              <a:srgbClr val="B5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527048"/>
            <a:ext cx="1078992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600" b="1">
                <a:solidFill>
                  <a:srgbClr val="1E262E"/>
                </a:solidFill>
                <a:latin typeface="Aptos"/>
              </a:rPr>
              <a:t>The G60 shall improve seat-belt restraint performance and status feedback.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PRIORITY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B72630"/>
                </a:solidFill>
                <a:latin typeface="Aptos Display"/>
              </a:rPr>
              <a:t>71.5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39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SENTIMENT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B72630"/>
                </a:solidFill>
                <a:latin typeface="Aptos Display"/>
              </a:rPr>
              <a:t>-47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58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EVIDENCE RECORDS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7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SOURCE TYPES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0996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EVIDENCE CONFIDENCE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0066B1"/>
                </a:solidFill>
                <a:latin typeface="Aptos Display"/>
              </a:rPr>
              <a:t>54%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15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COVERAGE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Global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456432"/>
            <a:ext cx="7059168" cy="2852928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621024"/>
            <a:ext cx="66294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00" b="1">
                <a:solidFill>
                  <a:srgbClr val="0066B1"/>
                </a:solidFill>
                <a:latin typeface="Aptos"/>
              </a:rPr>
              <a:t>SOURCE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968496"/>
            <a:ext cx="6583680" cy="20574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/>
            <a:r>
              <a:rPr sz="1100" b="0">
                <a:solidFill>
                  <a:srgbClr val="1E262E"/>
                </a:solidFill>
                <a:latin typeface="Aptos"/>
              </a:rPr>
              <a:t>1. [BMW Workbook] bmw-file:/​/​G60_feedback_hackathon.xlsx — Feedback_Explorer!row 45
2. [BMW Workbook] bmw-file:/​/​G60_feedback_hackathon.xlsx — Feedback_Explorer!row 284
3. [BMW Workbook] bmw-file:/​/​G60_feedback_hackathon.xlsx — Feedback_Explorer!row 778
4. [BMW Workbook] bmw-file:/​/​G60_feedback_hackathon.xlsx — Feedback_Explorer!row 1007
5. [BMW Workbook] bmw-file:/​/​G60_feedback_hackathon.xlsx — Feedback_Explorer!row 1117
6. [BMW Workbook] bmw-file:/​/​G60_feedback_hackathon.xlsx — Feedback_Explorer!row 1248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90688" y="3456432"/>
            <a:ext cx="3895344" cy="2852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0144" y="3621024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00" b="1">
                <a:solidFill>
                  <a:srgbClr val="0066B1"/>
                </a:solidFill>
                <a:latin typeface="Aptos"/>
              </a:rPr>
              <a:t>DECISION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0144" y="3913632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00" b="1">
                <a:solidFill>
                  <a:srgbClr val="5B6975"/>
                </a:solidFill>
                <a:latin typeface="Aptos"/>
              </a:rPr>
              <a:t>Sources: BMW Workbook 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0144" y="4169663"/>
            <a:ext cx="34747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100" b="1">
                <a:solidFill>
                  <a:srgbClr val="1E262E"/>
                </a:solidFill>
                <a:latin typeface="Aptos"/>
              </a:rPr>
              <a:t>Score basis: Static evidence proxy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0144" y="4498848"/>
            <a:ext cx="3456432" cy="15179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/>
            <a:r>
              <a:rPr sz="1000" b="0">
                <a:solidFill>
                  <a:srgbClr val="5B6975"/>
                </a:solidFill>
                <a:latin typeface="Aptos"/>
              </a:rPr>
              <a:t>• Groundedness is below 70%; human validation is required.
• Priority is a static evidence proxy based on absolute sentiment severity and distinct source volume; missing business inputs remain listed as blindspots.
• No dated observations; 30-day velocity is unknown.
• No validated synthetic sales take-rate causality score.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65392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800" b="0">
                <a:solidFill>
                  <a:srgbClr val="5B6975"/>
                </a:solidFill>
                <a:latin typeface="Aptos"/>
              </a:rPr>
              <a:t>C04  •  Medium Evidence  •  Global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65392"/>
            <a:ext cx="59436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/>
            <a:r>
              <a:rPr sz="800" b="0">
                <a:solidFill>
                  <a:srgbClr val="5B6975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1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00" b="1">
                <a:solidFill>
                  <a:srgbClr val="9FCAE8"/>
                </a:solidFill>
                <a:latin typeface="Aptos"/>
              </a:rPr>
              <a:t>RANK 02  /  CRITICAL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G60 (C04): Improve blind-spot alert timing and directional clarity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89888"/>
            <a:ext cx="11183112" cy="914400"/>
          </a:xfrm>
          <a:prstGeom prst="roundRect">
            <a:avLst/>
          </a:prstGeom>
          <a:solidFill>
            <a:srgbClr val="E5F1F9"/>
          </a:solidFill>
          <a:ln w="9525">
            <a:solidFill>
              <a:srgbClr val="B5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527048"/>
            <a:ext cx="1078992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600" b="1">
                <a:solidFill>
                  <a:srgbClr val="1E262E"/>
                </a:solidFill>
                <a:latin typeface="Aptos"/>
              </a:rPr>
              <a:t>The G60 shall improve blind-spot alert timing and directional clarity.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PRIORITY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B72630"/>
                </a:solidFill>
                <a:latin typeface="Aptos Display"/>
              </a:rPr>
              <a:t>57.2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39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SENTIMENT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B72630"/>
                </a:solidFill>
                <a:latin typeface="Aptos Display"/>
              </a:rPr>
              <a:t>-14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58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EVIDENCE RECORDS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7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SOURCE TYPES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0996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EVIDENCE CONFIDENCE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0066B1"/>
                </a:solidFill>
                <a:latin typeface="Aptos Display"/>
              </a:rPr>
              <a:t>57%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15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COVERAGE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456432"/>
            <a:ext cx="7059168" cy="2852928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621024"/>
            <a:ext cx="66294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00" b="1">
                <a:solidFill>
                  <a:srgbClr val="0066B1"/>
                </a:solidFill>
                <a:latin typeface="Aptos"/>
              </a:rPr>
              <a:t>SOURCE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968496"/>
            <a:ext cx="6583680" cy="20574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/>
            <a:r>
              <a:rPr sz="1100" b="0">
                <a:solidFill>
                  <a:srgbClr val="1E262E"/>
                </a:solidFill>
                <a:latin typeface="Aptos"/>
              </a:rPr>
              <a:t>1. [BMW Workbook] bmw-file:/​/​G60_feedback_hackathon.xlsx — Feedback_Explorer!row 451
2. [BMW Workbook] bmw-file:/​/​G60_feedback_hackathon.xlsx — Feedback_Explorer!row 534
3. [BMW Workbook] bmw-file:/​/​G60_feedback_hackathon.xlsx — Feedback_Explorer!row 1278
4. [BMW Workbook] bmw-file:/​/​G60_feedback_hackathon.xlsx — Feedback_Explorer!row 1669
5. [BMW Workbook] bmw-file:/​/​G60_feedback_hackathon.xlsx — Feedback_Explorer!row 1806
6. [BMW Workbook] bmw-file:/​/​G60_feedback_hackathon.xlsx — Feedback_Explorer!row 2170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90688" y="3456432"/>
            <a:ext cx="3895344" cy="2852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0144" y="3621024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00" b="1">
                <a:solidFill>
                  <a:srgbClr val="0066B1"/>
                </a:solidFill>
                <a:latin typeface="Aptos"/>
              </a:rPr>
              <a:t>DECISION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0144" y="3913632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00" b="1">
                <a:solidFill>
                  <a:srgbClr val="5B6975"/>
                </a:solidFill>
                <a:latin typeface="Aptos"/>
              </a:rPr>
              <a:t>Sources: BMW Workbook 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0144" y="4169663"/>
            <a:ext cx="34747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100" b="1">
                <a:solidFill>
                  <a:srgbClr val="1E262E"/>
                </a:solidFill>
                <a:latin typeface="Aptos"/>
              </a:rPr>
              <a:t>Score basis: Static evidence proxy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0144" y="4498848"/>
            <a:ext cx="3456432" cy="15179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/>
            <a:r>
              <a:rPr sz="1000" b="0">
                <a:solidFill>
                  <a:srgbClr val="5B6975"/>
                </a:solidFill>
                <a:latin typeface="Aptos"/>
              </a:rPr>
              <a:t>• Groundedness is below 70%; human validation is required.
• Priority is a static evidence proxy based on absolute sentiment severity and distinct source volume; missing business inputs remain listed as blindspots.
• No dated observations; 30-day velocity is unknown.
• No validated synthetic sales take-rate causality score.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65392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800" b="0">
                <a:solidFill>
                  <a:srgbClr val="5B6975"/>
                </a:solidFill>
                <a:latin typeface="Aptos"/>
              </a:rPr>
              <a:t>C04  •  Medium Evidence  •  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65392"/>
            <a:ext cx="59436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/>
            <a:r>
              <a:rPr sz="800" b="0">
                <a:solidFill>
                  <a:srgbClr val="5B6975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1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00" b="1">
                <a:solidFill>
                  <a:srgbClr val="9FCAE8"/>
                </a:solidFill>
                <a:latin typeface="Aptos"/>
              </a:rPr>
              <a:t>RANK 03  /  CRITICAL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G60 (C04): Improve emergency-braking intervention consistency and driver feedback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89888"/>
            <a:ext cx="11183112" cy="914400"/>
          </a:xfrm>
          <a:prstGeom prst="roundRect">
            <a:avLst/>
          </a:prstGeom>
          <a:solidFill>
            <a:srgbClr val="E5F1F9"/>
          </a:solidFill>
          <a:ln w="9525">
            <a:solidFill>
              <a:srgbClr val="B5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527048"/>
            <a:ext cx="1078992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600" b="1">
                <a:solidFill>
                  <a:srgbClr val="1E262E"/>
                </a:solidFill>
                <a:latin typeface="Aptos"/>
              </a:rPr>
              <a:t>The G60 shall improve emergency-braking intervention consistency and driver feedback.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PRIORITY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B72630"/>
                </a:solidFill>
                <a:latin typeface="Aptos Display"/>
              </a:rPr>
              <a:t>55.4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39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SENTIMENT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B72630"/>
                </a:solidFill>
                <a:latin typeface="Aptos Display"/>
              </a:rPr>
              <a:t>-57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58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EVIDENCE RECORDS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7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SOURCE TYPES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0996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EVIDENCE CONFIDENCE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0066B1"/>
                </a:solidFill>
                <a:latin typeface="Aptos Display"/>
              </a:rPr>
              <a:t>55%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15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COVERAGE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456432"/>
            <a:ext cx="7059168" cy="2852928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621024"/>
            <a:ext cx="66294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00" b="1">
                <a:solidFill>
                  <a:srgbClr val="0066B1"/>
                </a:solidFill>
                <a:latin typeface="Aptos"/>
              </a:rPr>
              <a:t>SOURCE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968496"/>
            <a:ext cx="6583680" cy="20574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/>
            <a:r>
              <a:rPr sz="1100" b="0">
                <a:solidFill>
                  <a:srgbClr val="1E262E"/>
                </a:solidFill>
                <a:latin typeface="Aptos"/>
              </a:rPr>
              <a:t>1. [BMW Workbook] bmw-file:/​/​G60_feedback_hackathon.xlsx — Feedback_Explorer!row 183
2. [BMW Workbook] bmw-file:/​/​G60_feedback_hackathon.xlsx — Feedback_Explorer!row 1949
3. [BMW Workbook] bmw-file:/​/​G60_feedback_hackathon.xlsx — Feedback_Explorer!row 1950
4. [BMW Workbook] bmw-file:/​/​G60_feedback_hackathon.xlsx — Feedback_Explorer!row 1951
5. [BMW Workbook] bmw-file:/​/​G60_feedback_hackathon.xlsx — Feedback_Explorer!row 1952
6. [BMW Workbook] bmw-file:/​/​G60_feedback_hackathon.xlsx — Feedback_Explorer!row 1953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90688" y="3456432"/>
            <a:ext cx="3895344" cy="2852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0144" y="3621024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00" b="1">
                <a:solidFill>
                  <a:srgbClr val="0066B1"/>
                </a:solidFill>
                <a:latin typeface="Aptos"/>
              </a:rPr>
              <a:t>DECISION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0144" y="3913632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00" b="1">
                <a:solidFill>
                  <a:srgbClr val="5B6975"/>
                </a:solidFill>
                <a:latin typeface="Aptos"/>
              </a:rPr>
              <a:t>Sources: BMW Workbook 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0144" y="4169663"/>
            <a:ext cx="34747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100" b="1">
                <a:solidFill>
                  <a:srgbClr val="1E262E"/>
                </a:solidFill>
                <a:latin typeface="Aptos"/>
              </a:rPr>
              <a:t>Score basis: Static evidence proxy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0144" y="4498848"/>
            <a:ext cx="3456432" cy="15179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/>
            <a:r>
              <a:rPr sz="1000" b="0">
                <a:solidFill>
                  <a:srgbClr val="5B6975"/>
                </a:solidFill>
                <a:latin typeface="Aptos"/>
              </a:rPr>
              <a:t>• Groundedness is below 70%; human validation is required.
• Priority is a static evidence proxy based on absolute sentiment severity and distinct source volume; missing business inputs remain listed as blindspots.
• No dated observations; 30-day velocity is unknown.
• No validated synthetic sales take-rate causality score.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65392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800" b="0">
                <a:solidFill>
                  <a:srgbClr val="5B6975"/>
                </a:solidFill>
                <a:latin typeface="Aptos"/>
              </a:rPr>
              <a:t>C04  •  Medium Evidence  •  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65392"/>
            <a:ext cx="59436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/>
            <a:r>
              <a:rPr sz="800" b="0">
                <a:solidFill>
                  <a:srgbClr val="5B6975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1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00" b="1">
                <a:solidFill>
                  <a:srgbClr val="9FCAE8"/>
                </a:solidFill>
                <a:latin typeface="Aptos"/>
              </a:rPr>
              <a:t>RANK 04  /  CRITICAL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G70 (C04): Improve seat-belt restraint performance and status feedback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89888"/>
            <a:ext cx="11183112" cy="914400"/>
          </a:xfrm>
          <a:prstGeom prst="roundRect">
            <a:avLst/>
          </a:prstGeom>
          <a:solidFill>
            <a:srgbClr val="E5F1F9"/>
          </a:solidFill>
          <a:ln w="9525">
            <a:solidFill>
              <a:srgbClr val="B5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527048"/>
            <a:ext cx="1078992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600" b="1">
                <a:solidFill>
                  <a:srgbClr val="1E262E"/>
                </a:solidFill>
                <a:latin typeface="Aptos"/>
              </a:rPr>
              <a:t>The G70 shall improve seat-belt restraint performance and status feedback.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PRIORITY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B72630"/>
                </a:solidFill>
                <a:latin typeface="Aptos Display"/>
              </a:rPr>
              <a:t>53.0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39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SENTIMENT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B72630"/>
                </a:solidFill>
                <a:latin typeface="Aptos Display"/>
              </a:rPr>
              <a:t>-50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58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EVIDENCE RECORDS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7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SOURCE TYPES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0996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EVIDENCE CONFIDENCE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0066B1"/>
                </a:solidFill>
                <a:latin typeface="Aptos Display"/>
              </a:rPr>
              <a:t>56%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15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COVERAGE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456432"/>
            <a:ext cx="7059168" cy="2852928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621024"/>
            <a:ext cx="66294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00" b="1">
                <a:solidFill>
                  <a:srgbClr val="0066B1"/>
                </a:solidFill>
                <a:latin typeface="Aptos"/>
              </a:rPr>
              <a:t>SOURCE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968496"/>
            <a:ext cx="6583680" cy="20574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/>
            <a:r>
              <a:rPr sz="1100" b="0">
                <a:solidFill>
                  <a:srgbClr val="1E262E"/>
                </a:solidFill>
                <a:latin typeface="Aptos"/>
              </a:rPr>
              <a:t>1. [BMW Workbook] bmw-file:/​/​G70_feedback_hackathon.xlsx — Feedback_Explorer!row 53
2. [BMW Workbook] bmw-file:/​/​G70_feedback_hackathon.xlsx — Feedback_Explorer!row 320
3. [BMW Workbook] bmw-file:/​/​G70_feedback_hackathon.xlsx — Feedback_Explorer!row 1087
4. [BMW Workbook] bmw-file:/​/​G70_feedback_hackathon.xlsx — Feedback_Explorer!row 1696
5. [BMW Workbook] bmw-file:/​/​G70_feedback_hackathon.xlsx — Feedback_Explorer!row 1697
6. [BMW Workbook] bmw-file:/​/​G70_feedback_hackathon.xlsx — Feedback_Explorer!row 1698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90688" y="3456432"/>
            <a:ext cx="3895344" cy="2852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0144" y="3621024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00" b="1">
                <a:solidFill>
                  <a:srgbClr val="0066B1"/>
                </a:solidFill>
                <a:latin typeface="Aptos"/>
              </a:rPr>
              <a:t>DECISION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0144" y="3913632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00" b="1">
                <a:solidFill>
                  <a:srgbClr val="5B6975"/>
                </a:solidFill>
                <a:latin typeface="Aptos"/>
              </a:rPr>
              <a:t>Sources: BMW Workbook 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0144" y="4169663"/>
            <a:ext cx="34747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100" b="1">
                <a:solidFill>
                  <a:srgbClr val="1E262E"/>
                </a:solidFill>
                <a:latin typeface="Aptos"/>
              </a:rPr>
              <a:t>Score basis: Static evidence proxy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0144" y="4498848"/>
            <a:ext cx="3456432" cy="15179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/>
            <a:r>
              <a:rPr sz="1000" b="0">
                <a:solidFill>
                  <a:srgbClr val="5B6975"/>
                </a:solidFill>
                <a:latin typeface="Aptos"/>
              </a:rPr>
              <a:t>• Groundedness is below 70%; human validation is required.
• Priority is a static evidence proxy based on absolute sentiment severity and distinct source volume; missing business inputs remain listed as blindspots.
• No dated observations; 30-day velocity is unknown.
• No validated synthetic sales take-rate causality score.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65392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800" b="0">
                <a:solidFill>
                  <a:srgbClr val="5B6975"/>
                </a:solidFill>
                <a:latin typeface="Aptos"/>
              </a:rPr>
              <a:t>C04  •  Medium Evidence  •  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65392"/>
            <a:ext cx="59436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/>
            <a:r>
              <a:rPr sz="800" b="0">
                <a:solidFill>
                  <a:srgbClr val="5B6975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1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00" b="1">
                <a:solidFill>
                  <a:srgbClr val="9FCAE8"/>
                </a:solidFill>
                <a:latin typeface="Aptos"/>
              </a:rPr>
              <a:t>RANK 05  /  CRITICAL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G70 (C04): Improve emergency-braking intervention consistency and driver feedback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89888"/>
            <a:ext cx="11183112" cy="914400"/>
          </a:xfrm>
          <a:prstGeom prst="roundRect">
            <a:avLst/>
          </a:prstGeom>
          <a:solidFill>
            <a:srgbClr val="E5F1F9"/>
          </a:solidFill>
          <a:ln w="9525">
            <a:solidFill>
              <a:srgbClr val="B5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527048"/>
            <a:ext cx="1078992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600" b="1">
                <a:solidFill>
                  <a:srgbClr val="1E262E"/>
                </a:solidFill>
                <a:latin typeface="Aptos"/>
              </a:rPr>
              <a:t>The G70 shall improve emergency-braking intervention consistency and driver feedback.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PRIORITY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B72630"/>
                </a:solidFill>
                <a:latin typeface="Aptos Display"/>
              </a:rPr>
              <a:t>50.0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39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SENTIMENT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B72630"/>
                </a:solidFill>
                <a:latin typeface="Aptos Display"/>
              </a:rPr>
              <a:t>-85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58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EVIDENCE RECORDS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7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SOURCE TYPES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0996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EVIDENCE CONFIDENCE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0066B1"/>
                </a:solidFill>
                <a:latin typeface="Aptos Display"/>
              </a:rPr>
              <a:t>50%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15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COVERAGE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456432"/>
            <a:ext cx="7059168" cy="2852928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621024"/>
            <a:ext cx="66294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00" b="1">
                <a:solidFill>
                  <a:srgbClr val="0066B1"/>
                </a:solidFill>
                <a:latin typeface="Aptos"/>
              </a:rPr>
              <a:t>SOURCE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968496"/>
            <a:ext cx="6583680" cy="20574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/>
            <a:r>
              <a:rPr sz="1100" b="0">
                <a:solidFill>
                  <a:srgbClr val="1E262E"/>
                </a:solidFill>
                <a:latin typeface="Aptos"/>
              </a:rPr>
              <a:t>1. [BMW Workbook] bmw-file:/​/​G70_feedback_hackathon.xlsx — Feedback_Explorer!row 383
2. [BMW Workbook] bmw-file:/​/​G70_feedback_hackathon.xlsx — Feedback_Explorer!row 885
3. [BMW Workbook] bmw-file:/​/​G70_feedback_hackathon.xlsx — Feedback_Explorer!row 2860
4. [BMW Workbook] bmw-file:/​/​G70_feedback_hackathon.xlsx — Feedback_Explorer!row 3042
5. [BMW Workbook] bmw-file:/​/​G70_feedback_hackathon.xlsx — Feedback_Explorer!row 4165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90688" y="3456432"/>
            <a:ext cx="3895344" cy="2852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0144" y="3621024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00" b="1">
                <a:solidFill>
                  <a:srgbClr val="0066B1"/>
                </a:solidFill>
                <a:latin typeface="Aptos"/>
              </a:rPr>
              <a:t>DECISION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0144" y="3913632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00" b="1">
                <a:solidFill>
                  <a:srgbClr val="5B6975"/>
                </a:solidFill>
                <a:latin typeface="Aptos"/>
              </a:rPr>
              <a:t>Sources: BMW Workbook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0144" y="4169663"/>
            <a:ext cx="34747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100" b="1">
                <a:solidFill>
                  <a:srgbClr val="1E262E"/>
                </a:solidFill>
                <a:latin typeface="Aptos"/>
              </a:rPr>
              <a:t>Score basis: Static evidence proxy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0144" y="4498848"/>
            <a:ext cx="3456432" cy="15179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/>
            <a:r>
              <a:rPr sz="1000" b="0">
                <a:solidFill>
                  <a:srgbClr val="5B6975"/>
                </a:solidFill>
                <a:latin typeface="Aptos"/>
              </a:rPr>
              <a:t>• Groundedness is below 70%; human validation is required.
• Priority is a static evidence proxy based on absolute sentiment severity and distinct source volume; missing business inputs remain listed as blindspots.
• No dated observations; 30-day velocity is unknown.
• No validated synthetic sales take-rate causality score.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65392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800" b="0">
                <a:solidFill>
                  <a:srgbClr val="5B6975"/>
                </a:solidFill>
                <a:latin typeface="Aptos"/>
              </a:rPr>
              <a:t>C04  •  Medium Evidence  •  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65392"/>
            <a:ext cx="59436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/>
            <a:r>
              <a:rPr sz="800" b="0">
                <a:solidFill>
                  <a:srgbClr val="5B6975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1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00" b="1">
                <a:solidFill>
                  <a:srgbClr val="9FCAE8"/>
                </a:solidFill>
                <a:latin typeface="Aptos"/>
              </a:rPr>
              <a:t>RANK 06  /  CRITICAL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F70 (C04): Improve seat-belt restraint performance and status feedback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89888"/>
            <a:ext cx="11183112" cy="914400"/>
          </a:xfrm>
          <a:prstGeom prst="roundRect">
            <a:avLst/>
          </a:prstGeom>
          <a:solidFill>
            <a:srgbClr val="E5F1F9"/>
          </a:solidFill>
          <a:ln w="9525">
            <a:solidFill>
              <a:srgbClr val="B5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527048"/>
            <a:ext cx="1078992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600" b="1">
                <a:solidFill>
                  <a:srgbClr val="1E262E"/>
                </a:solidFill>
                <a:latin typeface="Aptos"/>
              </a:rPr>
              <a:t>The F70 shall improve seat-belt restraint performance and status feedback.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PRIORITY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B72630"/>
                </a:solidFill>
                <a:latin typeface="Aptos Display"/>
              </a:rPr>
              <a:t>49.5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39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SENTIMENT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B72630"/>
                </a:solidFill>
                <a:latin typeface="Aptos Display"/>
              </a:rPr>
              <a:t>-21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58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EVIDENCE RECORDS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7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SOURCE TYPES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0996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EVIDENCE CONFIDENCE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0066B1"/>
                </a:solidFill>
                <a:latin typeface="Aptos Display"/>
              </a:rPr>
              <a:t>52%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15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COVERAGE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Global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456432"/>
            <a:ext cx="7059168" cy="2852928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621024"/>
            <a:ext cx="66294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00" b="1">
                <a:solidFill>
                  <a:srgbClr val="0066B1"/>
                </a:solidFill>
                <a:latin typeface="Aptos"/>
              </a:rPr>
              <a:t>SOURCE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968496"/>
            <a:ext cx="6583680" cy="20574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/>
            <a:r>
              <a:rPr sz="1100" b="0">
                <a:solidFill>
                  <a:srgbClr val="1E262E"/>
                </a:solidFill>
                <a:latin typeface="Aptos"/>
              </a:rPr>
              <a:t>1. [BMW Workbook] bmw-file:/​/​F70_feedback_hackathon.xlsx — Feedback_Explorer!row 333
2. [BMW Workbook] bmw-file:/​/​F70_feedback_hackathon.xlsx — Feedback_Explorer!row 334
3. [BMW Workbook] bmw-file:/​/​F70_feedback_hackathon.xlsx — Feedback_Explorer!row 939
4. [BMW Workbook] bmw-file:/​/​F70_feedback_hackathon.xlsx — Feedback_Explorer!row 1392
5. [BMW Workbook] bmw-file:/​/​F70_feedback_hackathon.xlsx — Feedback_Explorer!row 1393
6. [BMW Workbook] bmw-file:/​/​F70_feedback_hackathon.xlsx — Feedback_Explorer!row 1394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90688" y="3456432"/>
            <a:ext cx="3895344" cy="2852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0144" y="3621024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00" b="1">
                <a:solidFill>
                  <a:srgbClr val="0066B1"/>
                </a:solidFill>
                <a:latin typeface="Aptos"/>
              </a:rPr>
              <a:t>DECISION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0144" y="3913632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00" b="1">
                <a:solidFill>
                  <a:srgbClr val="5B6975"/>
                </a:solidFill>
                <a:latin typeface="Aptos"/>
              </a:rPr>
              <a:t>Sources: BMW Workbook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0144" y="4169663"/>
            <a:ext cx="34747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100" b="1">
                <a:solidFill>
                  <a:srgbClr val="1E262E"/>
                </a:solidFill>
                <a:latin typeface="Aptos"/>
              </a:rPr>
              <a:t>Score basis: Static evidence proxy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0144" y="4498848"/>
            <a:ext cx="3456432" cy="15179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/>
            <a:r>
              <a:rPr sz="1000" b="0">
                <a:solidFill>
                  <a:srgbClr val="5B6975"/>
                </a:solidFill>
                <a:latin typeface="Aptos"/>
              </a:rPr>
              <a:t>• Groundedness is below 70%; human validation is required.
• Priority is a static evidence proxy based on absolute sentiment severity and distinct source volume; missing business inputs remain listed as blindspots.
• No dated observations; 30-day velocity is unknown.
• No validated synthetic sales take-rate causality score.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65392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800" b="0">
                <a:solidFill>
                  <a:srgbClr val="5B6975"/>
                </a:solidFill>
                <a:latin typeface="Aptos"/>
              </a:rPr>
              <a:t>C04  •  Medium Evidence  •  Global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65392"/>
            <a:ext cx="59436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/>
            <a:r>
              <a:rPr sz="800" b="0">
                <a:solidFill>
                  <a:srgbClr val="5B6975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1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00" b="1">
                <a:solidFill>
                  <a:srgbClr val="9FCAE8"/>
                </a:solidFill>
                <a:latin typeface="Aptos"/>
              </a:rPr>
              <a:t>RANK 07  /  CRITICAL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G70 (C04): Strengthen occupant protection and collision-event response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89888"/>
            <a:ext cx="11183112" cy="914400"/>
          </a:xfrm>
          <a:prstGeom prst="roundRect">
            <a:avLst/>
          </a:prstGeom>
          <a:solidFill>
            <a:srgbClr val="E5F1F9"/>
          </a:solidFill>
          <a:ln w="9525">
            <a:solidFill>
              <a:srgbClr val="B5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527048"/>
            <a:ext cx="1078992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600" b="1">
                <a:solidFill>
                  <a:srgbClr val="1E262E"/>
                </a:solidFill>
                <a:latin typeface="Aptos"/>
              </a:rPr>
              <a:t>The G70 shall strengthen occupant protection and collision-event response.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PRIORITY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B72630"/>
                </a:solidFill>
                <a:latin typeface="Aptos Display"/>
              </a:rPr>
              <a:t>44.7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39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SENTIMENT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B72630"/>
                </a:solidFill>
                <a:latin typeface="Aptos Display"/>
              </a:rPr>
              <a:t>-76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58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EVIDENCE RECORDS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7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SOURCE TYPES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0996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EVIDENCE CONFIDENCE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0066B1"/>
                </a:solidFill>
                <a:latin typeface="Aptos Display"/>
              </a:rPr>
              <a:t>50%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15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COVERAGE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456432"/>
            <a:ext cx="7059168" cy="2852928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621024"/>
            <a:ext cx="66294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00" b="1">
                <a:solidFill>
                  <a:srgbClr val="0066B1"/>
                </a:solidFill>
                <a:latin typeface="Aptos"/>
              </a:rPr>
              <a:t>SOURCE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968496"/>
            <a:ext cx="6583680" cy="20574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/>
            <a:r>
              <a:rPr sz="1100" b="0">
                <a:solidFill>
                  <a:srgbClr val="1E262E"/>
                </a:solidFill>
                <a:latin typeface="Aptos"/>
              </a:rPr>
              <a:t>1. [BMW Workbook] bmw-file:/​/​G70_feedback_hackathon.xlsx — Feedback_Explorer!row 596
2. [BMW Workbook] bmw-file:/​/​G70_feedback_hackathon.xlsx — Feedback_Explorer!row 1618
3. [BMW Workbook] bmw-file:/​/​G70_feedback_hackathon.xlsx — Feedback_Explorer!row 2925
4. [BMW Workbook] bmw-file:/​/​G70_feedback_hackathon.xlsx — Feedback_Explorer!row 3346
5. [BMW Workbook] bmw-file:/​/​G70_feedback_hackathon.xlsx — Feedback_Explorer!row 4034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90688" y="3456432"/>
            <a:ext cx="3895344" cy="2852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0144" y="3621024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00" b="1">
                <a:solidFill>
                  <a:srgbClr val="0066B1"/>
                </a:solidFill>
                <a:latin typeface="Aptos"/>
              </a:rPr>
              <a:t>DECISION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0144" y="3913632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00" b="1">
                <a:solidFill>
                  <a:srgbClr val="5B6975"/>
                </a:solidFill>
                <a:latin typeface="Aptos"/>
              </a:rPr>
              <a:t>Sources: BMW Workbook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0144" y="4169663"/>
            <a:ext cx="34747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100" b="1">
                <a:solidFill>
                  <a:srgbClr val="1E262E"/>
                </a:solidFill>
                <a:latin typeface="Aptos"/>
              </a:rPr>
              <a:t>Score basis: Static evidence proxy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0144" y="4498848"/>
            <a:ext cx="3456432" cy="15179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/>
            <a:r>
              <a:rPr sz="1000" b="0">
                <a:solidFill>
                  <a:srgbClr val="5B6975"/>
                </a:solidFill>
                <a:latin typeface="Aptos"/>
              </a:rPr>
              <a:t>• Groundedness is below 70%; human validation is required.
• Priority is a static evidence proxy based on absolute sentiment severity and distinct source volume; missing business inputs remain listed as blindspots.
• No dated observations; 30-day velocity is unknown.
• No validated synthetic sales take-rate causality score.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65392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800" b="0">
                <a:solidFill>
                  <a:srgbClr val="5B6975"/>
                </a:solidFill>
                <a:latin typeface="Aptos"/>
              </a:rPr>
              <a:t>C04  •  Medium Evidence  •  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65392"/>
            <a:ext cx="59436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/>
            <a:r>
              <a:rPr sz="800" b="0">
                <a:solidFill>
                  <a:srgbClr val="5B6975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1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00" b="1">
                <a:solidFill>
                  <a:srgbClr val="9FCAE8"/>
                </a:solidFill>
                <a:latin typeface="Aptos"/>
              </a:rPr>
              <a:t>RANK 08  /  CRITICAL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G60 (C04): Improve emergency-braking intervention consistency and driver feedback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89888"/>
            <a:ext cx="11183112" cy="914400"/>
          </a:xfrm>
          <a:prstGeom prst="roundRect">
            <a:avLst/>
          </a:prstGeom>
          <a:solidFill>
            <a:srgbClr val="E5F1F9"/>
          </a:solidFill>
          <a:ln w="9525">
            <a:solidFill>
              <a:srgbClr val="B5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527048"/>
            <a:ext cx="1078992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600" b="1">
                <a:solidFill>
                  <a:srgbClr val="1E262E"/>
                </a:solidFill>
                <a:latin typeface="Aptos"/>
              </a:rPr>
              <a:t>The G60 shall improve emergency-braking intervention consistency and driver feedback.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PRIORITY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B72630"/>
                </a:solidFill>
                <a:latin typeface="Aptos Display"/>
              </a:rPr>
              <a:t>41.6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39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SENTIMENT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F7A50"/>
                </a:solidFill>
                <a:latin typeface="Aptos Display"/>
              </a:rPr>
              <a:t>+39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58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EVIDENCE RECORDS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7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SOURCE TYPES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0996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EVIDENCE CONFIDENCE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0066B1"/>
                </a:solidFill>
                <a:latin typeface="Aptos Display"/>
              </a:rPr>
              <a:t>49%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15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COVERAGE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456432"/>
            <a:ext cx="7059168" cy="2852928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621024"/>
            <a:ext cx="66294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00" b="1">
                <a:solidFill>
                  <a:srgbClr val="0066B1"/>
                </a:solidFill>
                <a:latin typeface="Aptos"/>
              </a:rPr>
              <a:t>SOURCE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968496"/>
            <a:ext cx="6583680" cy="20574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/>
            <a:r>
              <a:rPr sz="1100" b="0">
                <a:solidFill>
                  <a:srgbClr val="1E262E"/>
                </a:solidFill>
                <a:latin typeface="Aptos"/>
              </a:rPr>
              <a:t>1. [BMW Workbook] bmw-file:/​/​G60_feedback_hackathon.xlsx — Feedback_Explorer!row 423
2. [BMW Workbook] bmw-file:/​/​G60_feedback_hackathon.xlsx — Feedback_Explorer!row 634
3. [BMW Workbook] bmw-file:/​/​G60_feedback_hackathon.xlsx — Feedback_Explorer!row 2050
4. [BMW Workbook] bmw-file:/​/​G60_feedback_hackathon.xlsx — Feedback_Explorer!row 2207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90688" y="3456432"/>
            <a:ext cx="3895344" cy="2852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0144" y="3621024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00" b="1">
                <a:solidFill>
                  <a:srgbClr val="0066B1"/>
                </a:solidFill>
                <a:latin typeface="Aptos"/>
              </a:rPr>
              <a:t>DECISION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0144" y="3913632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00" b="1">
                <a:solidFill>
                  <a:srgbClr val="5B6975"/>
                </a:solidFill>
                <a:latin typeface="Aptos"/>
              </a:rPr>
              <a:t>Sources: BMW Workbook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0144" y="4169663"/>
            <a:ext cx="34747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100" b="1">
                <a:solidFill>
                  <a:srgbClr val="1E262E"/>
                </a:solidFill>
                <a:latin typeface="Aptos"/>
              </a:rPr>
              <a:t>Score basis: Static evidence proxy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0144" y="4498848"/>
            <a:ext cx="3456432" cy="15179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/>
            <a:r>
              <a:rPr sz="1000" b="0">
                <a:solidFill>
                  <a:srgbClr val="5B6975"/>
                </a:solidFill>
                <a:latin typeface="Aptos"/>
              </a:rPr>
              <a:t>• Low evidence volume: fewer than five distinct feedback records.
• Groundedness is below 70%; human validation is required.
• No dated observations; 30-day velocity is unknown.
• No validated synthetic sales take-rate causality score.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65392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800" b="0">
                <a:solidFill>
                  <a:srgbClr val="5B6975"/>
                </a:solidFill>
                <a:latin typeface="Aptos"/>
              </a:rPr>
              <a:t>C04  •  Uncertain / Conflict Flag  •  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65392"/>
            <a:ext cx="59436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/>
            <a:r>
              <a:rPr sz="800" b="0">
                <a:solidFill>
                  <a:srgbClr val="5B6975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1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00" b="1">
                <a:solidFill>
                  <a:srgbClr val="9FCAE8"/>
                </a:solidFill>
                <a:latin typeface="Aptos"/>
              </a:rPr>
              <a:t>RANK 09  /  CRITICAL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G60 (C04): Improve collision-warning detection and provide timely, explainable alerts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89888"/>
            <a:ext cx="11183112" cy="914400"/>
          </a:xfrm>
          <a:prstGeom prst="roundRect">
            <a:avLst/>
          </a:prstGeom>
          <a:solidFill>
            <a:srgbClr val="E5F1F9"/>
          </a:solidFill>
          <a:ln w="9525">
            <a:solidFill>
              <a:srgbClr val="B5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527048"/>
            <a:ext cx="1078992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600" b="1">
                <a:solidFill>
                  <a:srgbClr val="1E262E"/>
                </a:solidFill>
                <a:latin typeface="Aptos"/>
              </a:rPr>
              <a:t>The G60 shall improve collision-warning detection and provide timely, explainable alerts.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PRIORITY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B72630"/>
                </a:solidFill>
                <a:latin typeface="Aptos Display"/>
              </a:rPr>
              <a:t>29.8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39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SENTIMENT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F7A50"/>
                </a:solidFill>
                <a:latin typeface="Aptos Display"/>
              </a:rPr>
              <a:t>+2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58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EVIDENCE RECORDS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7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SOURCE TYPES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0996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EVIDENCE CONFIDENCE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0066B1"/>
                </a:solidFill>
                <a:latin typeface="Aptos Display"/>
              </a:rPr>
              <a:t>44%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15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COVERAGE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456432"/>
            <a:ext cx="7059168" cy="2852928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621024"/>
            <a:ext cx="66294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00" b="1">
                <a:solidFill>
                  <a:srgbClr val="0066B1"/>
                </a:solidFill>
                <a:latin typeface="Aptos"/>
              </a:rPr>
              <a:t>SOURCE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968496"/>
            <a:ext cx="6583680" cy="20574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/>
            <a:r>
              <a:rPr sz="1100" b="0">
                <a:solidFill>
                  <a:srgbClr val="1E262E"/>
                </a:solidFill>
                <a:latin typeface="Aptos"/>
              </a:rPr>
              <a:t>1. [BMW Workbook] bmw-file:/​/​G60_feedback_hackathon.xlsx — Feedback_Explorer!row 1506
2. [BMW Workbook] bmw-file:/​/​G60_feedback_hackathon.xlsx — Feedback_Explorer!row 1748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90688" y="3456432"/>
            <a:ext cx="3895344" cy="2852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0144" y="3621024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00" b="1">
                <a:solidFill>
                  <a:srgbClr val="0066B1"/>
                </a:solidFill>
                <a:latin typeface="Aptos"/>
              </a:rPr>
              <a:t>DECISION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0144" y="3913632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00" b="1">
                <a:solidFill>
                  <a:srgbClr val="5B6975"/>
                </a:solidFill>
                <a:latin typeface="Aptos"/>
              </a:rPr>
              <a:t>Sources: BMW Workbook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0144" y="4169663"/>
            <a:ext cx="34747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100" b="1">
                <a:solidFill>
                  <a:srgbClr val="1E262E"/>
                </a:solidFill>
                <a:latin typeface="Aptos"/>
              </a:rPr>
              <a:t>Score basis: Static evidence proxy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0144" y="4498848"/>
            <a:ext cx="3456432" cy="15179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/>
            <a:r>
              <a:rPr sz="1000" b="0">
                <a:solidFill>
                  <a:srgbClr val="5B6975"/>
                </a:solidFill>
                <a:latin typeface="Aptos"/>
              </a:rPr>
              <a:t>• Low evidence volume: fewer than five distinct feedback records.
• Groundedness is below 70%; human validation is required.
• No dated observations; 30-day velocity is unknown.
• No validated synthetic sales take-rate causality score.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65392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800" b="0">
                <a:solidFill>
                  <a:srgbClr val="5B6975"/>
                </a:solidFill>
                <a:latin typeface="Aptos"/>
              </a:rPr>
              <a:t>C04  •  Uncertain / Conflict Flag  •  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65392"/>
            <a:ext cx="59436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/>
            <a:r>
              <a:rPr sz="800" b="0">
                <a:solidFill>
                  <a:srgbClr val="5B6975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1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00" b="1">
                <a:solidFill>
                  <a:srgbClr val="9FCAE8"/>
                </a:solidFill>
                <a:latin typeface="Aptos"/>
              </a:rPr>
              <a:t>RANK 10  /  HIGH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G60 (C01): Calibrate steering and chassis response for predictable handling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89888"/>
            <a:ext cx="11183112" cy="914400"/>
          </a:xfrm>
          <a:prstGeom prst="roundRect">
            <a:avLst/>
          </a:prstGeom>
          <a:solidFill>
            <a:srgbClr val="E5F1F9"/>
          </a:solidFill>
          <a:ln w="9525">
            <a:solidFill>
              <a:srgbClr val="B5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527048"/>
            <a:ext cx="1078992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600" b="1">
                <a:solidFill>
                  <a:srgbClr val="1E262E"/>
                </a:solidFill>
                <a:latin typeface="Aptos"/>
              </a:rPr>
              <a:t>The G60 shall calibrate steering and chassis response for predictable handling.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PRIORITY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0066B1"/>
                </a:solidFill>
                <a:latin typeface="Aptos Display"/>
              </a:rPr>
              <a:t>81.4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39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SENTIMENT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F7A50"/>
                </a:solidFill>
                <a:latin typeface="Aptos Display"/>
              </a:rPr>
              <a:t>+79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58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EVIDENCE RECORDS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7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SOURCE TYPES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0996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EVIDENCE CONFIDENCE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0066B1"/>
                </a:solidFill>
                <a:latin typeface="Aptos Display"/>
              </a:rPr>
              <a:t>68%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15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COVERAGE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Global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456432"/>
            <a:ext cx="7059168" cy="2852928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621024"/>
            <a:ext cx="66294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00" b="1">
                <a:solidFill>
                  <a:srgbClr val="0066B1"/>
                </a:solidFill>
                <a:latin typeface="Aptos"/>
              </a:rPr>
              <a:t>SOURCE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968496"/>
            <a:ext cx="6583680" cy="20574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/>
            <a:r>
              <a:rPr sz="1100" b="0">
                <a:solidFill>
                  <a:srgbClr val="1E262E"/>
                </a:solidFill>
                <a:latin typeface="Aptos"/>
              </a:rPr>
              <a:t>1. [BMW Workbook] bmw-file:/​/​G60_feedback_hackathon.xlsx — Feedback_Explorer!row 5
2. [BMW Workbook] bmw-file:/​/​G60_feedback_hackathon.xlsx — Feedback_Explorer!row 165
3. [BMW Workbook] bmw-file:/​/​G60_feedback_hackathon.xlsx — Feedback_Explorer!row 170
4. [BMW Workbook] bmw-file:/​/​G60_feedback_hackathon.xlsx — Feedback_Explorer!row 171
5. [BMW Workbook] bmw-file:/​/​G60_feedback_hackathon.xlsx — Feedback_Explorer!row 458
6. [BMW Workbook] bmw-file:/​/​G60_feedback_hackathon.xlsx — Feedback_Explorer!row 590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90688" y="3456432"/>
            <a:ext cx="3895344" cy="2852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0144" y="3621024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00" b="1">
                <a:solidFill>
                  <a:srgbClr val="0066B1"/>
                </a:solidFill>
                <a:latin typeface="Aptos"/>
              </a:rPr>
              <a:t>DECISION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0144" y="3913632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00" b="1">
                <a:solidFill>
                  <a:srgbClr val="5B6975"/>
                </a:solidFill>
                <a:latin typeface="Aptos"/>
              </a:rPr>
              <a:t>Sources: BMW Workbook 47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0144" y="4169663"/>
            <a:ext cx="34747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100" b="1">
                <a:solidFill>
                  <a:srgbClr val="1E262E"/>
                </a:solidFill>
                <a:latin typeface="Aptos"/>
              </a:rPr>
              <a:t>Score basis: Static evidence proxy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0144" y="4498848"/>
            <a:ext cx="3456432" cy="15179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/>
            <a:r>
              <a:rPr sz="1000" b="0">
                <a:solidFill>
                  <a:srgbClr val="5B6975"/>
                </a:solidFill>
                <a:latin typeface="Aptos"/>
              </a:rPr>
              <a:t>• Groundedness is below 70%; human validation is required.
• Priority is a static evidence proxy based on absolute sentiment severity and distinct source volume; missing business inputs remain listed as blindspots.
• No dated observations; 30-day velocity is unknown.
• No validated synthetic sales take-rate causality score.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65392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800" b="0">
                <a:solidFill>
                  <a:srgbClr val="5B6975"/>
                </a:solidFill>
                <a:latin typeface="Aptos"/>
              </a:rPr>
              <a:t>C01  •  Medium Evidence  •  Global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65392"/>
            <a:ext cx="59436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/>
            <a:r>
              <a:rPr sz="800" b="0">
                <a:solidFill>
                  <a:srgbClr val="5B6975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1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00" b="1">
                <a:solidFill>
                  <a:srgbClr val="9FCAE8"/>
                </a:solidFill>
                <a:latin typeface="Aptos"/>
              </a:rPr>
              <a:t>RANK 11  /  HIGH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G70 (C05): Improve ride and cabin comfort consistency during everyday 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89888"/>
            <a:ext cx="11183112" cy="914400"/>
          </a:xfrm>
          <a:prstGeom prst="roundRect">
            <a:avLst/>
          </a:prstGeom>
          <a:solidFill>
            <a:srgbClr val="E5F1F9"/>
          </a:solidFill>
          <a:ln w="9525">
            <a:solidFill>
              <a:srgbClr val="B5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527048"/>
            <a:ext cx="1078992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600" b="1">
                <a:solidFill>
                  <a:srgbClr val="1E262E"/>
                </a:solidFill>
                <a:latin typeface="Aptos"/>
              </a:rPr>
              <a:t>The G70 shall improve ride and cabin comfort consistency during everyday use.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PRIORITY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0066B1"/>
                </a:solidFill>
                <a:latin typeface="Aptos Display"/>
              </a:rPr>
              <a:t>81.0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39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SENTIMENT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F7A50"/>
                </a:solidFill>
                <a:latin typeface="Aptos Display"/>
              </a:rPr>
              <a:t>+81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58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EVIDENCE RECORDS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7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SOURCE TYPES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0996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EVIDENCE CONFIDENCE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0066B1"/>
                </a:solidFill>
                <a:latin typeface="Aptos Display"/>
              </a:rPr>
              <a:t>50%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15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COVERAGE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RoW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456432"/>
            <a:ext cx="7059168" cy="2852928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621024"/>
            <a:ext cx="66294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00" b="1">
                <a:solidFill>
                  <a:srgbClr val="0066B1"/>
                </a:solidFill>
                <a:latin typeface="Aptos"/>
              </a:rPr>
              <a:t>SOURCE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968496"/>
            <a:ext cx="6583680" cy="20574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/>
            <a:r>
              <a:rPr sz="1100" b="0">
                <a:solidFill>
                  <a:srgbClr val="1E262E"/>
                </a:solidFill>
                <a:latin typeface="Aptos"/>
              </a:rPr>
              <a:t>1. [BMW Workbook] bmw-file:/​/​G70_feedback_hackathon.xlsx — Feedback_Explorer!row 173
2. [BMW Workbook] bmw-file:/​/​G70_feedback_hackathon.xlsx — Feedback_Explorer!row 174
3. [BMW Workbook] bmw-file:/​/​G70_feedback_hackathon.xlsx — Feedback_Explorer!row 175
4. [BMW Workbook] bmw-file:/​/​G70_feedback_hackathon.xlsx — Feedback_Explorer!row 187
5. [BMW Workbook] bmw-file:/​/​G70_feedback_hackathon.xlsx — Feedback_Explorer!row 188
6. [BMW Workbook] bmw-file:/​/​G70_feedback_hackathon.xlsx — Feedback_Explorer!row 189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90688" y="3456432"/>
            <a:ext cx="3895344" cy="2852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0144" y="3621024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00" b="1">
                <a:solidFill>
                  <a:srgbClr val="0066B1"/>
                </a:solidFill>
                <a:latin typeface="Aptos"/>
              </a:rPr>
              <a:t>DECISION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0144" y="3913632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00" b="1">
                <a:solidFill>
                  <a:srgbClr val="5B6975"/>
                </a:solidFill>
                <a:latin typeface="Aptos"/>
              </a:rPr>
              <a:t>Sources: BMW Workbook 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0144" y="4169663"/>
            <a:ext cx="34747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100" b="1">
                <a:solidFill>
                  <a:srgbClr val="1E262E"/>
                </a:solidFill>
                <a:latin typeface="Aptos"/>
              </a:rPr>
              <a:t>Score basis: Static evidence proxy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0144" y="4498848"/>
            <a:ext cx="3456432" cy="15179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/>
            <a:r>
              <a:rPr sz="1000" b="0">
                <a:solidFill>
                  <a:srgbClr val="5B6975"/>
                </a:solidFill>
                <a:latin typeface="Aptos"/>
              </a:rPr>
              <a:t>• Cross-regional sentiment conflict detected; regional derivative branches generated.
• Groundedness is below 70%; human validation is required.
• No dated observations; 30-day velocity is unknown.
• No validated synthetic sales take-rate causality score.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65392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800" b="0">
                <a:solidFill>
                  <a:srgbClr val="5B6975"/>
                </a:solidFill>
                <a:latin typeface="Aptos"/>
              </a:rPr>
              <a:t>C05  •  Uncertain / Conflict Flag  •  RoW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65392"/>
            <a:ext cx="59436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/>
            <a:r>
              <a:rPr sz="800" b="0">
                <a:solidFill>
                  <a:srgbClr val="5B6975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1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00" b="1">
                <a:solidFill>
                  <a:srgbClr val="9FCAE8"/>
                </a:solidFill>
                <a:latin typeface="Aptos"/>
              </a:rPr>
              <a:t>RANK 12  /  HIGH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G60 (C05): Reduce cabin vibration and harshness without compromising body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89888"/>
            <a:ext cx="11183112" cy="914400"/>
          </a:xfrm>
          <a:prstGeom prst="roundRect">
            <a:avLst/>
          </a:prstGeom>
          <a:solidFill>
            <a:srgbClr val="E5F1F9"/>
          </a:solidFill>
          <a:ln w="9525">
            <a:solidFill>
              <a:srgbClr val="B5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527048"/>
            <a:ext cx="1078992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600" b="1">
                <a:solidFill>
                  <a:srgbClr val="1E262E"/>
                </a:solidFill>
                <a:latin typeface="Aptos"/>
              </a:rPr>
              <a:t>The G60 shall reduce cabin vibration and harshness without compromising body control.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PRIORITY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0066B1"/>
                </a:solidFill>
                <a:latin typeface="Aptos Display"/>
              </a:rPr>
              <a:t>80.7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39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SENTIMENT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B72630"/>
                </a:solidFill>
                <a:latin typeface="Aptos Display"/>
              </a:rPr>
              <a:t>-76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58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EVIDENCE RECORDS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7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SOURCE TYPES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0996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EVIDENCE CONFIDENCE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0066B1"/>
                </a:solidFill>
                <a:latin typeface="Aptos Display"/>
              </a:rPr>
              <a:t>66%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15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COVERAGE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Global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456432"/>
            <a:ext cx="7059168" cy="2852928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621024"/>
            <a:ext cx="66294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00" b="1">
                <a:solidFill>
                  <a:srgbClr val="0066B1"/>
                </a:solidFill>
                <a:latin typeface="Aptos"/>
              </a:rPr>
              <a:t>SOURCE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968496"/>
            <a:ext cx="6583680" cy="20574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/>
            <a:r>
              <a:rPr sz="1100" b="0">
                <a:solidFill>
                  <a:srgbClr val="1E262E"/>
                </a:solidFill>
                <a:latin typeface="Aptos"/>
              </a:rPr>
              <a:t>1. [BMW Workbook] bmw-file:/​/​G60_feedback_hackathon.xlsx — Feedback_Explorer!row 184
2. [BMW Workbook] bmw-file:/​/​G60_feedback_hackathon.xlsx — Feedback_Explorer!row 185
3. [BMW Workbook] bmw-file:/​/​G60_feedback_hackathon.xlsx — Feedback_Explorer!row 186
4. [BMW Workbook] bmw-file:/​/​G60_feedback_hackathon.xlsx — Feedback_Explorer!row 187
5. [BMW Workbook] bmw-file:/​/​G60_feedback_hackathon.xlsx — Feedback_Explorer!row 212
6. [BMW Workbook] bmw-file:/​/​G60_feedback_hackathon.xlsx — Feedback_Explorer!row 456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90688" y="3456432"/>
            <a:ext cx="3895344" cy="2852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0144" y="3621024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00" b="1">
                <a:solidFill>
                  <a:srgbClr val="0066B1"/>
                </a:solidFill>
                <a:latin typeface="Aptos"/>
              </a:rPr>
              <a:t>DECISION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0144" y="3913632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00" b="1">
                <a:solidFill>
                  <a:srgbClr val="5B6975"/>
                </a:solidFill>
                <a:latin typeface="Aptos"/>
              </a:rPr>
              <a:t>Sources: BMW Workbook 53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0144" y="4169663"/>
            <a:ext cx="34747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100" b="1">
                <a:solidFill>
                  <a:srgbClr val="1E262E"/>
                </a:solidFill>
                <a:latin typeface="Aptos"/>
              </a:rPr>
              <a:t>Score basis: Static evidence proxy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0144" y="4498848"/>
            <a:ext cx="3456432" cy="15179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/>
            <a:r>
              <a:rPr sz="1000" b="0">
                <a:solidFill>
                  <a:srgbClr val="5B6975"/>
                </a:solidFill>
                <a:latin typeface="Aptos"/>
              </a:rPr>
              <a:t>• Groundedness is below 70%; human validation is required.
• Priority is a static evidence proxy based on absolute sentiment severity and distinct source volume; missing business inputs remain listed as blindspots.
• No dated observations; 30-day velocity is unknown.
• No validated synthetic sales take-rate causality score.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65392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800" b="0">
                <a:solidFill>
                  <a:srgbClr val="5B6975"/>
                </a:solidFill>
                <a:latin typeface="Aptos"/>
              </a:rPr>
              <a:t>C05  •  Medium Evidence  •  Global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65392"/>
            <a:ext cx="59436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/>
            <a:r>
              <a:rPr sz="800" b="0">
                <a:solidFill>
                  <a:srgbClr val="5B6975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1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00" b="1">
                <a:solidFill>
                  <a:srgbClr val="9FCAE8"/>
                </a:solidFill>
                <a:latin typeface="Aptos"/>
              </a:rPr>
              <a:t>RANK 13  /  HIGH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F70 (C01): Improve xDrive traction response and driveline consistency across changing road conditions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89888"/>
            <a:ext cx="11183112" cy="914400"/>
          </a:xfrm>
          <a:prstGeom prst="roundRect">
            <a:avLst/>
          </a:prstGeom>
          <a:solidFill>
            <a:srgbClr val="E5F1F9"/>
          </a:solidFill>
          <a:ln w="9525">
            <a:solidFill>
              <a:srgbClr val="B5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527048"/>
            <a:ext cx="1078992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600" b="1">
                <a:solidFill>
                  <a:srgbClr val="1E262E"/>
                </a:solidFill>
                <a:latin typeface="Aptos"/>
              </a:rPr>
              <a:t>The F70 shall improve xDrive traction response and driveline consistency across changing road conditions.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PRIORITY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0066B1"/>
                </a:solidFill>
                <a:latin typeface="Aptos Display"/>
              </a:rPr>
              <a:t>80.4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39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SENTIMENT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F7A50"/>
                </a:solidFill>
                <a:latin typeface="Aptos Display"/>
              </a:rPr>
              <a:t>+75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58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EVIDENCE RECORDS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7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SOURCE TYPES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0996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EVIDENCE CONFIDENCE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0066B1"/>
                </a:solidFill>
                <a:latin typeface="Aptos Display"/>
              </a:rPr>
              <a:t>73%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15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COVERAGE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Global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456432"/>
            <a:ext cx="7059168" cy="2852928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621024"/>
            <a:ext cx="66294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00" b="1">
                <a:solidFill>
                  <a:srgbClr val="0066B1"/>
                </a:solidFill>
                <a:latin typeface="Aptos"/>
              </a:rPr>
              <a:t>SOURCE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968496"/>
            <a:ext cx="6583680" cy="20574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/>
            <a:r>
              <a:rPr sz="1100" b="0">
                <a:solidFill>
                  <a:srgbClr val="1E262E"/>
                </a:solidFill>
                <a:latin typeface="Aptos"/>
              </a:rPr>
              <a:t>1. [BMW Workbook] bmw-file:/​/​F70_feedback_hackathon.xlsx — Feedback_Explorer!row 79
2. [BMW Workbook] bmw-file:/​/​F70_feedback_hackathon.xlsx — Feedback_Explorer!row 114
3. [BMW Workbook] bmw-file:/​/​F70_feedback_hackathon.xlsx — Feedback_Explorer!row 125
4. [BMW Workbook] bmw-file:/​/​F70_feedback_hackathon.xlsx — Feedback_Explorer!row 212
5. [BMW Workbook] bmw-file:/​/​F70_feedback_hackathon.xlsx — Feedback_Explorer!row 213
6. [BMW Workbook] bmw-file:/​/​F70_feedback_hackathon.xlsx — Feedback_Explorer!row 214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90688" y="3456432"/>
            <a:ext cx="3895344" cy="2852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0144" y="3621024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00" b="1">
                <a:solidFill>
                  <a:srgbClr val="0066B1"/>
                </a:solidFill>
                <a:latin typeface="Aptos"/>
              </a:rPr>
              <a:t>DECISION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0144" y="3913632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00" b="1">
                <a:solidFill>
                  <a:srgbClr val="5B6975"/>
                </a:solidFill>
                <a:latin typeface="Aptos"/>
              </a:rPr>
              <a:t>Sources: BMW Workbook 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0144" y="4169663"/>
            <a:ext cx="34747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100" b="1">
                <a:solidFill>
                  <a:srgbClr val="1E262E"/>
                </a:solidFill>
                <a:latin typeface="Aptos"/>
              </a:rPr>
              <a:t>Score basis: Static evidence proxy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0144" y="4498848"/>
            <a:ext cx="3456432" cy="15179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/>
            <a:r>
              <a:rPr sz="1000" b="0">
                <a:solidFill>
                  <a:srgbClr val="5B6975"/>
                </a:solidFill>
                <a:latin typeface="Aptos"/>
              </a:rPr>
              <a:t>• Groundedness is below 70%; human validation is required.
• Priority is a static evidence proxy based on absolute sentiment severity and distinct source volume; missing business inputs remain listed as blindspots.
• No dated observations; 30-day velocity is unknown.
• No validated synthetic sales take-rate causality score.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65392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800" b="0">
                <a:solidFill>
                  <a:srgbClr val="5B6975"/>
                </a:solidFill>
                <a:latin typeface="Aptos"/>
              </a:rPr>
              <a:t>C01  •  Medium Evidence  •  Global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65392"/>
            <a:ext cx="59436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/>
            <a:r>
              <a:rPr sz="800" b="0">
                <a:solidFill>
                  <a:srgbClr val="5B6975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1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00" b="1">
                <a:solidFill>
                  <a:srgbClr val="9FCAE8"/>
                </a:solidFill>
                <a:latin typeface="Aptos"/>
              </a:rPr>
              <a:t>RANK 14  /  HIGH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F70 (C01): Calibrate steering and chassis response for predictable handling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89888"/>
            <a:ext cx="11183112" cy="914400"/>
          </a:xfrm>
          <a:prstGeom prst="roundRect">
            <a:avLst/>
          </a:prstGeom>
          <a:solidFill>
            <a:srgbClr val="E5F1F9"/>
          </a:solidFill>
          <a:ln w="9525">
            <a:solidFill>
              <a:srgbClr val="B5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527048"/>
            <a:ext cx="1078992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600" b="1">
                <a:solidFill>
                  <a:srgbClr val="1E262E"/>
                </a:solidFill>
                <a:latin typeface="Aptos"/>
              </a:rPr>
              <a:t>The F70 shall calibrate steering and chassis response for predictable handling.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PRIORITY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0066B1"/>
                </a:solidFill>
                <a:latin typeface="Aptos Display"/>
              </a:rPr>
              <a:t>80.0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39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SENTIMENT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F7A50"/>
                </a:solidFill>
                <a:latin typeface="Aptos Display"/>
              </a:rPr>
              <a:t>+79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58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EVIDENCE RECORDS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169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7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SOURCE TYPES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0996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EVIDENCE CONFIDENCE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0066B1"/>
                </a:solidFill>
                <a:latin typeface="Aptos Display"/>
              </a:rPr>
              <a:t>78%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15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COVERAGE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Global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456432"/>
            <a:ext cx="7059168" cy="2852928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621024"/>
            <a:ext cx="66294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00" b="1">
                <a:solidFill>
                  <a:srgbClr val="0066B1"/>
                </a:solidFill>
                <a:latin typeface="Aptos"/>
              </a:rPr>
              <a:t>SOURCE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968496"/>
            <a:ext cx="6583680" cy="20574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/>
            <a:r>
              <a:rPr sz="1100" b="0">
                <a:solidFill>
                  <a:srgbClr val="1E262E"/>
                </a:solidFill>
                <a:latin typeface="Aptos"/>
              </a:rPr>
              <a:t>1. [BMW Workbook] bmw-file:/​/​F70_feedback_hackathon.xlsx — Feedback_Explorer!row 102
2. [BMW Workbook] bmw-file:/​/​F70_feedback_hackathon.xlsx — Feedback_Explorer!row 115
3. [BMW Workbook] bmw-file:/​/​F70_feedback_hackathon.xlsx — Feedback_Explorer!row 143
4. [BMW Workbook] bmw-file:/​/​F70_feedback_hackathon.xlsx — Feedback_Explorer!row 168
5. [BMW Workbook] bmw-file:/​/​F70_feedback_hackathon.xlsx — Feedback_Explorer!row 190
6. [BMW Workbook] bmw-file:/​/​F70_feedback_hackathon.xlsx — Feedback_Explorer!row 232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90688" y="3456432"/>
            <a:ext cx="3895344" cy="2852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0144" y="3621024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00" b="1">
                <a:solidFill>
                  <a:srgbClr val="0066B1"/>
                </a:solidFill>
                <a:latin typeface="Aptos"/>
              </a:rPr>
              <a:t>DECISION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0144" y="3913632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00" b="1">
                <a:solidFill>
                  <a:srgbClr val="5B6975"/>
                </a:solidFill>
                <a:latin typeface="Aptos"/>
              </a:rPr>
              <a:t>Sources: BMW Workbook 169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0144" y="4169663"/>
            <a:ext cx="34747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100" b="1">
                <a:solidFill>
                  <a:srgbClr val="1E262E"/>
                </a:solidFill>
                <a:latin typeface="Aptos"/>
              </a:rPr>
              <a:t>Score basis: Static evidence proxy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0144" y="4498848"/>
            <a:ext cx="3456432" cy="15179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/>
            <a:r>
              <a:rPr sz="1000" b="0">
                <a:solidFill>
                  <a:srgbClr val="5B6975"/>
                </a:solidFill>
                <a:latin typeface="Aptos"/>
              </a:rPr>
              <a:t>• Groundedness is below 70%; human validation is required.
• Priority is a static evidence proxy based on absolute sentiment severity and distinct source volume; missing business inputs remain listed as blindspots.
• No dated observations; 30-day velocity is unknown.
• No validated synthetic sales take-rate causality score.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65392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800" b="0">
                <a:solidFill>
                  <a:srgbClr val="5B6975"/>
                </a:solidFill>
                <a:latin typeface="Aptos"/>
              </a:rPr>
              <a:t>C01  •  Medium Evidence  •  Global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65392"/>
            <a:ext cx="59436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/>
            <a:r>
              <a:rPr sz="800" b="0">
                <a:solidFill>
                  <a:srgbClr val="5B6975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1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00" b="1">
                <a:solidFill>
                  <a:srgbClr val="9FCAE8"/>
                </a:solidFill>
                <a:latin typeface="Aptos"/>
              </a:rPr>
              <a:t>RANK 276  /  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Neue_Klasse (C01): Deliver consistent powertrain response across normal driving conditions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89888"/>
            <a:ext cx="11183112" cy="914400"/>
          </a:xfrm>
          <a:prstGeom prst="roundRect">
            <a:avLst/>
          </a:prstGeom>
          <a:solidFill>
            <a:srgbClr val="E5F1F9"/>
          </a:solidFill>
          <a:ln w="9525">
            <a:solidFill>
              <a:srgbClr val="B5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527048"/>
            <a:ext cx="1078992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600" b="1">
                <a:solidFill>
                  <a:srgbClr val="1E262E"/>
                </a:solidFill>
                <a:latin typeface="Aptos"/>
              </a:rPr>
              <a:t>The Neue_Klasse shall deliver consistent powertrain response across normal driving conditions.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PRIORITY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0066B1"/>
                </a:solidFill>
                <a:latin typeface="Aptos Display"/>
              </a:rPr>
              <a:t>0.0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39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SENTIMENT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F7A50"/>
                </a:solidFill>
                <a:latin typeface="Aptos Display"/>
              </a:rPr>
              <a:t>+0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58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EVIDENCE RECORDS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7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SOURCE TYPES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0996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EVIDENCE CONFIDENCE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0066B1"/>
                </a:solidFill>
                <a:latin typeface="Aptos Display"/>
              </a:rPr>
              <a:t>33%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15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COVERAGE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EU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456432"/>
            <a:ext cx="7059168" cy="2852928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621024"/>
            <a:ext cx="66294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00" b="1">
                <a:solidFill>
                  <a:srgbClr val="0066B1"/>
                </a:solidFill>
                <a:latin typeface="Aptos"/>
              </a:rPr>
              <a:t>SOURCE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968496"/>
            <a:ext cx="6583680" cy="20574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/>
            <a:r>
              <a:rPr sz="1100" b="0">
                <a:solidFill>
                  <a:srgbClr val="1E262E"/>
                </a:solidFill>
                <a:latin typeface="Aptos"/>
              </a:rPr>
              <a:t>1. [Competitor Web] https:/​/​media.byd.com/​byd-breaksdown-finalbarriers-toelectrification-withblade-battery20-andflash-charging/​?​lang=​eng — https://media.byd.com/byd-breaksdow...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90688" y="3456432"/>
            <a:ext cx="3895344" cy="2852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0144" y="3621024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00" b="1">
                <a:solidFill>
                  <a:srgbClr val="0066B1"/>
                </a:solidFill>
                <a:latin typeface="Aptos"/>
              </a:rPr>
              <a:t>DECISION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0144" y="3913632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00" b="1">
                <a:solidFill>
                  <a:srgbClr val="5B6975"/>
                </a:solidFill>
                <a:latin typeface="Aptos"/>
              </a:rPr>
              <a:t>Sources: Competitor Web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0144" y="4169663"/>
            <a:ext cx="34747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100" b="1">
                <a:solidFill>
                  <a:srgbClr val="1E262E"/>
                </a:solidFill>
                <a:latin typeface="Aptos"/>
              </a:rPr>
              <a:t>Score basis: Static evidence proxy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0144" y="4498848"/>
            <a:ext cx="3456432" cy="15179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/>
            <a:r>
              <a:rPr sz="1000" b="0">
                <a:solidFill>
                  <a:srgbClr val="5B6975"/>
                </a:solidFill>
                <a:latin typeface="Aptos"/>
              </a:rPr>
              <a:t>• Low evidence volume: fewer than five distinct feedback records.
• Groundedness is below 70%; human validation is required.
• No dated observations; 30-day velocity is unknown.
• No validated synthetic sales take-rate causality score.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65392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800" b="0">
                <a:solidFill>
                  <a:srgbClr val="5B6975"/>
                </a:solidFill>
                <a:latin typeface="Aptos"/>
              </a:rPr>
              <a:t>C01  •  Uncertain / Conflict Flag  •  EU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65392"/>
            <a:ext cx="59436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/>
            <a:r>
              <a:rPr sz="800" b="0">
                <a:solidFill>
                  <a:srgbClr val="5B6975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1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00" b="1">
                <a:solidFill>
                  <a:srgbClr val="9FCAE8"/>
                </a:solidFill>
                <a:latin typeface="Aptos"/>
              </a:rPr>
              <a:t>RANK 15  /  HIGH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G70 (C01): Calibrate steering and chassis response for predictable handling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89888"/>
            <a:ext cx="11183112" cy="914400"/>
          </a:xfrm>
          <a:prstGeom prst="roundRect">
            <a:avLst/>
          </a:prstGeom>
          <a:solidFill>
            <a:srgbClr val="E5F1F9"/>
          </a:solidFill>
          <a:ln w="9525">
            <a:solidFill>
              <a:srgbClr val="B5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527048"/>
            <a:ext cx="1078992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600" b="1">
                <a:solidFill>
                  <a:srgbClr val="1E262E"/>
                </a:solidFill>
                <a:latin typeface="Aptos"/>
              </a:rPr>
              <a:t>The G70 shall calibrate steering and chassis response for predictable handling.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PRIORITY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0066B1"/>
                </a:solidFill>
                <a:latin typeface="Aptos Display"/>
              </a:rPr>
              <a:t>79.9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39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SENTIMENT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F7A50"/>
                </a:solidFill>
                <a:latin typeface="Aptos Display"/>
              </a:rPr>
              <a:t>+80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58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EVIDENCE RECORDS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7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SOURCE TYPES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0996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EVIDENCE CONFIDENCE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0066B1"/>
                </a:solidFill>
                <a:latin typeface="Aptos Display"/>
              </a:rPr>
              <a:t>66%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15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COVERAGE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Global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456432"/>
            <a:ext cx="7059168" cy="2852928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621024"/>
            <a:ext cx="66294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00" b="1">
                <a:solidFill>
                  <a:srgbClr val="0066B1"/>
                </a:solidFill>
                <a:latin typeface="Aptos"/>
              </a:rPr>
              <a:t>SOURCE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968496"/>
            <a:ext cx="6583680" cy="20574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/>
            <a:r>
              <a:rPr sz="1100" b="0">
                <a:solidFill>
                  <a:srgbClr val="1E262E"/>
                </a:solidFill>
                <a:latin typeface="Aptos"/>
              </a:rPr>
              <a:t>1. [BMW Workbook] bmw-file:/​/​G70_feedback_hackathon.xlsx — Feedback_Explorer!row 76
2. [BMW Workbook] bmw-file:/​/​G70_feedback_hackathon.xlsx — Feedback_Explorer!row 211
3. [BMW Workbook] bmw-file:/​/​G70_feedback_hackathon.xlsx — Feedback_Explorer!row 336
4. [BMW Workbook] bmw-file:/​/​G70_feedback_hackathon.xlsx — Feedback_Explorer!row 417
5. [BMW Workbook] bmw-file:/​/​G70_feedback_hackathon.xlsx — Feedback_Explorer!row 518
6. [BMW Workbook] bmw-file:/​/​G70_feedback_hackathon.xlsx — Feedback_Explorer!row 658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90688" y="3456432"/>
            <a:ext cx="3895344" cy="2852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0144" y="3621024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00" b="1">
                <a:solidFill>
                  <a:srgbClr val="0066B1"/>
                </a:solidFill>
                <a:latin typeface="Aptos"/>
              </a:rPr>
              <a:t>DECISION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0144" y="3913632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00" b="1">
                <a:solidFill>
                  <a:srgbClr val="5B6975"/>
                </a:solidFill>
                <a:latin typeface="Aptos"/>
              </a:rPr>
              <a:t>Sources: BMW Workbook 35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0144" y="4169663"/>
            <a:ext cx="34747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100" b="1">
                <a:solidFill>
                  <a:srgbClr val="1E262E"/>
                </a:solidFill>
                <a:latin typeface="Aptos"/>
              </a:rPr>
              <a:t>Score basis: Static evidence proxy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0144" y="4498848"/>
            <a:ext cx="3456432" cy="15179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/>
            <a:r>
              <a:rPr sz="1000" b="0">
                <a:solidFill>
                  <a:srgbClr val="5B6975"/>
                </a:solidFill>
                <a:latin typeface="Aptos"/>
              </a:rPr>
              <a:t>• Groundedness is below 70%; human validation is required.
• Priority is a static evidence proxy based on absolute sentiment severity and distinct source volume; missing business inputs remain listed as blindspots.
• No dated observations; 30-day velocity is unknown.
• No validated synthetic sales take-rate causality score.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65392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800" b="0">
                <a:solidFill>
                  <a:srgbClr val="5B6975"/>
                </a:solidFill>
                <a:latin typeface="Aptos"/>
              </a:rPr>
              <a:t>C01  •  Medium Evidence  •  Global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65392"/>
            <a:ext cx="59436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/>
            <a:r>
              <a:rPr sz="800" b="0">
                <a:solidFill>
                  <a:srgbClr val="5B6975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1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00" b="1">
                <a:solidFill>
                  <a:srgbClr val="9FCAE8"/>
                </a:solidFill>
                <a:latin typeface="Aptos"/>
              </a:rPr>
              <a:t>RANK 16  /  HIGH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G60 (C01): Improve xDrive traction response and driveline consistency across changing road conditions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89888"/>
            <a:ext cx="11183112" cy="914400"/>
          </a:xfrm>
          <a:prstGeom prst="roundRect">
            <a:avLst/>
          </a:prstGeom>
          <a:solidFill>
            <a:srgbClr val="E5F1F9"/>
          </a:solidFill>
          <a:ln w="9525">
            <a:solidFill>
              <a:srgbClr val="B5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527048"/>
            <a:ext cx="1078992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600" b="1">
                <a:solidFill>
                  <a:srgbClr val="1E262E"/>
                </a:solidFill>
                <a:latin typeface="Aptos"/>
              </a:rPr>
              <a:t>The G60 shall improve xDrive traction response and driveline consistency across changing road conditions.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PRIORITY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0066B1"/>
                </a:solidFill>
                <a:latin typeface="Aptos Display"/>
              </a:rPr>
              <a:t>79.2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39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SENTIMENT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F7A50"/>
                </a:solidFill>
                <a:latin typeface="Aptos Display"/>
              </a:rPr>
              <a:t>+79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58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EVIDENCE RECORDS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7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SOURCE TYPES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0996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EVIDENCE CONFIDENCE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0066B1"/>
                </a:solidFill>
                <a:latin typeface="Aptos Display"/>
              </a:rPr>
              <a:t>53%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15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COVERAGE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RoW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456432"/>
            <a:ext cx="7059168" cy="2852928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621024"/>
            <a:ext cx="66294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00" b="1">
                <a:solidFill>
                  <a:srgbClr val="0066B1"/>
                </a:solidFill>
                <a:latin typeface="Aptos"/>
              </a:rPr>
              <a:t>SOURCE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968496"/>
            <a:ext cx="6583680" cy="20574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/>
            <a:r>
              <a:rPr sz="1100" b="0">
                <a:solidFill>
                  <a:srgbClr val="1E262E"/>
                </a:solidFill>
                <a:latin typeface="Aptos"/>
              </a:rPr>
              <a:t>1. [BMW Workbook] bmw-file:/​/​G60_feedback_hackathon.xlsx — Feedback_Explorer!row 26
2. [BMW Workbook] bmw-file:/​/​G60_feedback_hackathon.xlsx — Feedback_Explorer!row 471
3. [BMW Workbook] bmw-file:/​/​G60_feedback_hackathon.xlsx — Feedback_Explorer!row 503
4. [BMW Workbook] bmw-file:/​/​G60_feedback_hackathon.xlsx — Feedback_Explorer!row 825
5. [BMW Workbook] bmw-file:/​/​G60_feedback_hackathon.xlsx — Feedback_Explorer!row 909
6. [BMW Workbook] bmw-file:/​/​G60_feedback_hackathon.xlsx — Feedback_Explorer!row 1032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90688" y="3456432"/>
            <a:ext cx="3895344" cy="2852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0144" y="3621024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00" b="1">
                <a:solidFill>
                  <a:srgbClr val="0066B1"/>
                </a:solidFill>
                <a:latin typeface="Aptos"/>
              </a:rPr>
              <a:t>DECISION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0144" y="3913632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00" b="1">
                <a:solidFill>
                  <a:srgbClr val="5B6975"/>
                </a:solidFill>
                <a:latin typeface="Aptos"/>
              </a:rPr>
              <a:t>Sources: BMW Workbook 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0144" y="4169663"/>
            <a:ext cx="34747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100" b="1">
                <a:solidFill>
                  <a:srgbClr val="1E262E"/>
                </a:solidFill>
                <a:latin typeface="Aptos"/>
              </a:rPr>
              <a:t>Score basis: Static evidence proxy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0144" y="4498848"/>
            <a:ext cx="3456432" cy="15179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/>
            <a:r>
              <a:rPr sz="1000" b="0">
                <a:solidFill>
                  <a:srgbClr val="5B6975"/>
                </a:solidFill>
                <a:latin typeface="Aptos"/>
              </a:rPr>
              <a:t>• Cross-regional sentiment conflict detected; regional derivative branches generated.
• Groundedness is below 70%; human validation is required.
• No dated observations; 30-day velocity is unknown.
• No validated synthetic sales take-rate causality score.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65392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800" b="0">
                <a:solidFill>
                  <a:srgbClr val="5B6975"/>
                </a:solidFill>
                <a:latin typeface="Aptos"/>
              </a:rPr>
              <a:t>C01  •  Uncertain / Conflict Flag  •  RoW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65392"/>
            <a:ext cx="59436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/>
            <a:r>
              <a:rPr sz="800" b="0">
                <a:solidFill>
                  <a:srgbClr val="5B6975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1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00" b="1">
                <a:solidFill>
                  <a:srgbClr val="9FCAE8"/>
                </a:solidFill>
                <a:latin typeface="Aptos"/>
              </a:rPr>
              <a:t>RANK 17  /  HIGH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F70 (C06): Refine exterior detailing while preserving aerodynamic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89888"/>
            <a:ext cx="11183112" cy="914400"/>
          </a:xfrm>
          <a:prstGeom prst="roundRect">
            <a:avLst/>
          </a:prstGeom>
          <a:solidFill>
            <a:srgbClr val="E5F1F9"/>
          </a:solidFill>
          <a:ln w="9525">
            <a:solidFill>
              <a:srgbClr val="B5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527048"/>
            <a:ext cx="1078992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600" b="1">
                <a:solidFill>
                  <a:srgbClr val="1E262E"/>
                </a:solidFill>
                <a:latin typeface="Aptos"/>
              </a:rPr>
              <a:t>The F70 shall refine exterior detailing while preserving aerodynamic performance.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PRIORITY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0066B1"/>
                </a:solidFill>
                <a:latin typeface="Aptos Display"/>
              </a:rPr>
              <a:t>78.5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39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SENTIMENT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F7A50"/>
                </a:solidFill>
                <a:latin typeface="Aptos Display"/>
              </a:rPr>
              <a:t>+70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58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EVIDENCE RECORDS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7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SOURCE TYPES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0996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EVIDENCE CONFIDENCE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0066B1"/>
                </a:solidFill>
                <a:latin typeface="Aptos Display"/>
              </a:rPr>
              <a:t>59%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15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COVERAGE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Global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456432"/>
            <a:ext cx="7059168" cy="2852928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621024"/>
            <a:ext cx="66294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00" b="1">
                <a:solidFill>
                  <a:srgbClr val="0066B1"/>
                </a:solidFill>
                <a:latin typeface="Aptos"/>
              </a:rPr>
              <a:t>SOURCE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968496"/>
            <a:ext cx="6583680" cy="20574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/>
            <a:r>
              <a:rPr sz="1100" b="0">
                <a:solidFill>
                  <a:srgbClr val="1E262E"/>
                </a:solidFill>
                <a:latin typeface="Aptos"/>
              </a:rPr>
              <a:t>1. [BMW Workbook] bmw-file:/​/​F70_feedback_hackathon.xlsx — Feedback_Explorer!row 395
2. [BMW Workbook] bmw-file:/​/​F70_feedback_hackathon.xlsx — Feedback_Explorer!row 560
3. [BMW Workbook] bmw-file:/​/​F70_feedback_hackathon.xlsx — Feedback_Explorer!row 561
4. [BMW Workbook] bmw-file:/​/​F70_feedback_hackathon.xlsx — Feedback_Explorer!row 562
5. [BMW Workbook] bmw-file:/​/​F70_feedback_hackathon.xlsx — Feedback_Explorer!row 563
6. [BMW Workbook] bmw-file:/​/​F70_feedback_hackathon.xlsx — Feedback_Explorer!row 564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90688" y="3456432"/>
            <a:ext cx="3895344" cy="2852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0144" y="3621024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00" b="1">
                <a:solidFill>
                  <a:srgbClr val="0066B1"/>
                </a:solidFill>
                <a:latin typeface="Aptos"/>
              </a:rPr>
              <a:t>DECISION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0144" y="3913632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00" b="1">
                <a:solidFill>
                  <a:srgbClr val="5B6975"/>
                </a:solidFill>
                <a:latin typeface="Aptos"/>
              </a:rPr>
              <a:t>Sources: BMW Workbook 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0144" y="4169663"/>
            <a:ext cx="34747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100" b="1">
                <a:solidFill>
                  <a:srgbClr val="1E262E"/>
                </a:solidFill>
                <a:latin typeface="Aptos"/>
              </a:rPr>
              <a:t>Score basis: Static evidence proxy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0144" y="4498848"/>
            <a:ext cx="3456432" cy="15179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/>
            <a:r>
              <a:rPr sz="1000" b="0">
                <a:solidFill>
                  <a:srgbClr val="5B6975"/>
                </a:solidFill>
                <a:latin typeface="Aptos"/>
              </a:rPr>
              <a:t>• Groundedness is below 70%; human validation is required.
• Priority is a static evidence proxy based on absolute sentiment severity and distinct source volume; missing business inputs remain listed as blindspots.
• No dated observations; 30-day velocity is unknown.
• No validated synthetic sales take-rate causality score.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65392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800" b="0">
                <a:solidFill>
                  <a:srgbClr val="5B6975"/>
                </a:solidFill>
                <a:latin typeface="Aptos"/>
              </a:rPr>
              <a:t>C06  •  Medium Evidence  •  Global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65392"/>
            <a:ext cx="59436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/>
            <a:r>
              <a:rPr sz="800" b="0">
                <a:solidFill>
                  <a:srgbClr val="5B6975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1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00" b="1">
                <a:solidFill>
                  <a:srgbClr val="9FCAE8"/>
                </a:solidFill>
                <a:latin typeface="Aptos"/>
              </a:rPr>
              <a:t>RANK 18  /  HIGH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G70 (C01): Improve xDrive traction response and driveline consistency across changing road conditions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89888"/>
            <a:ext cx="11183112" cy="914400"/>
          </a:xfrm>
          <a:prstGeom prst="roundRect">
            <a:avLst/>
          </a:prstGeom>
          <a:solidFill>
            <a:srgbClr val="E5F1F9"/>
          </a:solidFill>
          <a:ln w="9525">
            <a:solidFill>
              <a:srgbClr val="B5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527048"/>
            <a:ext cx="1078992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600" b="1">
                <a:solidFill>
                  <a:srgbClr val="1E262E"/>
                </a:solidFill>
                <a:latin typeface="Aptos"/>
              </a:rPr>
              <a:t>The G70 shall improve xDrive traction response and driveline consistency across changing road conditions.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PRIORITY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0066B1"/>
                </a:solidFill>
                <a:latin typeface="Aptos Display"/>
              </a:rPr>
              <a:t>78.0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39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SENTIMENT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F7A50"/>
                </a:solidFill>
                <a:latin typeface="Aptos Display"/>
              </a:rPr>
              <a:t>+71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58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EVIDENCE RECORDS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158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7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SOURCE TYPES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0996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EVIDENCE CONFIDENCE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0066B1"/>
                </a:solidFill>
                <a:latin typeface="Aptos Display"/>
              </a:rPr>
              <a:t>77%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15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COVERAGE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Global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456432"/>
            <a:ext cx="7059168" cy="2852928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621024"/>
            <a:ext cx="66294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00" b="1">
                <a:solidFill>
                  <a:srgbClr val="0066B1"/>
                </a:solidFill>
                <a:latin typeface="Aptos"/>
              </a:rPr>
              <a:t>SOURCE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968496"/>
            <a:ext cx="6583680" cy="20574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/>
            <a:r>
              <a:rPr sz="1100" b="0">
                <a:solidFill>
                  <a:srgbClr val="1E262E"/>
                </a:solidFill>
                <a:latin typeface="Aptos"/>
              </a:rPr>
              <a:t>1. [BMW Workbook] bmw-file:/​/​G70_feedback_hackathon.xlsx — Feedback_Explorer!row 46
2. [BMW Workbook] bmw-file:/​/​G70_feedback_hackathon.xlsx — Feedback_Explorer!row 64
3. [BMW Workbook] bmw-file:/​/​G70_feedback_hackathon.xlsx — Feedback_Explorer!row 170
4. [BMW Workbook] bmw-file:/​/​G70_feedback_hackathon.xlsx — Feedback_Explorer!row 202
5. [BMW Workbook] bmw-file:/​/​G70_feedback_hackathon.xlsx — Feedback_Explorer!row 212
6. [BMW Workbook] bmw-file:/​/​G70_feedback_hackathon.xlsx — Feedback_Explorer!row 291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90688" y="3456432"/>
            <a:ext cx="3895344" cy="2852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0144" y="3621024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00" b="1">
                <a:solidFill>
                  <a:srgbClr val="0066B1"/>
                </a:solidFill>
                <a:latin typeface="Aptos"/>
              </a:rPr>
              <a:t>DECISION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0144" y="3913632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00" b="1">
                <a:solidFill>
                  <a:srgbClr val="5B6975"/>
                </a:solidFill>
                <a:latin typeface="Aptos"/>
              </a:rPr>
              <a:t>Sources: BMW Workbook 158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0144" y="4169663"/>
            <a:ext cx="34747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100" b="1">
                <a:solidFill>
                  <a:srgbClr val="1E262E"/>
                </a:solidFill>
                <a:latin typeface="Aptos"/>
              </a:rPr>
              <a:t>Score basis: Static evidence proxy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0144" y="4498848"/>
            <a:ext cx="3456432" cy="15179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/>
            <a:r>
              <a:rPr sz="1000" b="0">
                <a:solidFill>
                  <a:srgbClr val="5B6975"/>
                </a:solidFill>
                <a:latin typeface="Aptos"/>
              </a:rPr>
              <a:t>• Groundedness is below 70%; human validation is required.
• Priority is a static evidence proxy based on absolute sentiment severity and distinct source volume; missing business inputs remain listed as blindspots.
• No dated observations; 30-day velocity is unknown.
• No validated synthetic sales take-rate causality score.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65392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800" b="0">
                <a:solidFill>
                  <a:srgbClr val="5B6975"/>
                </a:solidFill>
                <a:latin typeface="Aptos"/>
              </a:rPr>
              <a:t>C01  •  Medium Evidence  •  Global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65392"/>
            <a:ext cx="59436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/>
            <a:r>
              <a:rPr sz="800" b="0">
                <a:solidFill>
                  <a:srgbClr val="5B6975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1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00" b="1">
                <a:solidFill>
                  <a:srgbClr val="9FCAE8"/>
                </a:solidFill>
                <a:latin typeface="Aptos"/>
              </a:rPr>
              <a:t>RANK 19  /  HIGH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G70 (C07): Improve instrument-cluster information hierarchy and glance readability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89888"/>
            <a:ext cx="11183112" cy="914400"/>
          </a:xfrm>
          <a:prstGeom prst="roundRect">
            <a:avLst/>
          </a:prstGeom>
          <a:solidFill>
            <a:srgbClr val="E5F1F9"/>
          </a:solidFill>
          <a:ln w="9525">
            <a:solidFill>
              <a:srgbClr val="B5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527048"/>
            <a:ext cx="1078992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600" b="1">
                <a:solidFill>
                  <a:srgbClr val="1E262E"/>
                </a:solidFill>
                <a:latin typeface="Aptos"/>
              </a:rPr>
              <a:t>The G70 shall improve instrument-cluster information hierarchy and glance readability.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PRIORITY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0066B1"/>
                </a:solidFill>
                <a:latin typeface="Aptos Display"/>
              </a:rPr>
              <a:t>77.8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39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SENTIMENT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F7A50"/>
                </a:solidFill>
                <a:latin typeface="Aptos Display"/>
              </a:rPr>
              <a:t>+48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58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EVIDENCE RECORDS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43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7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SOURCE TYPES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0996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EVIDENCE CONFIDENCE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0066B1"/>
                </a:solidFill>
                <a:latin typeface="Aptos Display"/>
              </a:rPr>
              <a:t>59%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15" y="2532888"/>
            <a:ext cx="16916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/>
            <a:r>
              <a:rPr sz="800" b="1">
                <a:solidFill>
                  <a:srgbClr val="5B6975"/>
                </a:solidFill>
                <a:latin typeface="Aptos"/>
              </a:rPr>
              <a:t>COVERAGE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1E262E"/>
                </a:solidFill>
                <a:latin typeface="Aptos Display"/>
              </a:rPr>
              <a:t>Global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456432"/>
            <a:ext cx="7059168" cy="2852928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621024"/>
            <a:ext cx="66294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00" b="1">
                <a:solidFill>
                  <a:srgbClr val="0066B1"/>
                </a:solidFill>
                <a:latin typeface="Aptos"/>
              </a:rPr>
              <a:t>SOURCE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968496"/>
            <a:ext cx="6583680" cy="20574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l"/>
            <a:r>
              <a:rPr sz="1100" b="0">
                <a:solidFill>
                  <a:srgbClr val="1E262E"/>
                </a:solidFill>
                <a:latin typeface="Aptos"/>
              </a:rPr>
              <a:t>1. [BMW Workbook] bmw-file:/​/​G70_feedback_hackathon.xlsx — Feedback_Explorer!row 52
2. [BMW Workbook] bmw-file:/​/​G70_feedback_hackathon.xlsx — Feedback_Explorer!row 108
3. [BMW Workbook] bmw-file:/​/​G70_feedback_hackathon.xlsx — Feedback_Explorer!row 136
4. [BMW Workbook] bmw-file:/​/​G70_feedback_hackathon.xlsx — Feedback_Explorer!row 242
5. [BMW Workbook] bmw-file:/​/​G70_feedback_hackathon.xlsx — Feedback_Explorer!row 375
6. [BMW Workbook] bmw-file:/​/​G70_feedback_hackathon.xlsx — Feedback_Explorer!row 387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90688" y="3456432"/>
            <a:ext cx="3895344" cy="2852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0144" y="3621024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000" b="1">
                <a:solidFill>
                  <a:srgbClr val="0066B1"/>
                </a:solidFill>
                <a:latin typeface="Aptos"/>
              </a:rPr>
              <a:t>DECISION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0144" y="3913632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900" b="1">
                <a:solidFill>
                  <a:srgbClr val="5B6975"/>
                </a:solidFill>
                <a:latin typeface="Aptos"/>
              </a:rPr>
              <a:t>Sources: BMW Workbook 43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0144" y="4169663"/>
            <a:ext cx="34747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1100" b="1">
                <a:solidFill>
                  <a:srgbClr val="1E262E"/>
                </a:solidFill>
                <a:latin typeface="Aptos"/>
              </a:rPr>
              <a:t>Score basis: Static evidence proxy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0144" y="4498848"/>
            <a:ext cx="3456432" cy="15179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/>
            <a:r>
              <a:rPr sz="1000" b="0">
                <a:solidFill>
                  <a:srgbClr val="5B6975"/>
                </a:solidFill>
                <a:latin typeface="Aptos"/>
              </a:rPr>
              <a:t>• Groundedness is below 70%; human validation is required.
• Priority is a static evidence proxy based on absolute sentiment severity and distinct source volume; missing business inputs remain listed as blindspots.
• No dated observations; 30-day velocity is unknown.
• No validated synthetic sales take-rate causality score.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65392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800" b="0">
                <a:solidFill>
                  <a:srgbClr val="5B6975"/>
                </a:solidFill>
                <a:latin typeface="Aptos"/>
              </a:rPr>
              <a:t>C07  •  Medium Evidence  •  Global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65392"/>
            <a:ext cx="59436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r"/>
            <a:r>
              <a:rPr sz="800" b="0">
                <a:solidFill>
                  <a:srgbClr val="5B6975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